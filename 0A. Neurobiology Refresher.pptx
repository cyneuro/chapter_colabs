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1588CA-04A0-41CC-8F91-3F128B75ECD2}" v="74" dt="2026-03-23T18:11:48.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2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r, Satish" userId="af50c098-07d3-4545-ad93-15c24b849386" providerId="ADAL" clId="{B575728E-D61F-49E0-BC8E-8DC5242C7AE2}"/>
    <pc:docChg chg="undo redo custSel addSld modSld">
      <pc:chgData name="Nair, Satish" userId="af50c098-07d3-4545-ad93-15c24b849386" providerId="ADAL" clId="{B575728E-D61F-49E0-BC8E-8DC5242C7AE2}" dt="2026-03-23T18:11:48.034" v="1586"/>
      <pc:docMkLst>
        <pc:docMk/>
      </pc:docMkLst>
      <pc:sldChg chg="addSp delSp modSp new mod">
        <pc:chgData name="Nair, Satish" userId="af50c098-07d3-4545-ad93-15c24b849386" providerId="ADAL" clId="{B575728E-D61F-49E0-BC8E-8DC5242C7AE2}" dt="2026-03-23T18:11:48.034" v="1586"/>
        <pc:sldMkLst>
          <pc:docMk/>
          <pc:sldMk cId="1764206999" sldId="256"/>
        </pc:sldMkLst>
        <pc:spChg chg="add">
          <ac:chgData name="Nair, Satish" userId="af50c098-07d3-4545-ad93-15c24b849386" providerId="ADAL" clId="{B575728E-D61F-49E0-BC8E-8DC5242C7AE2}" dt="2026-03-23T00:24:41.140" v="813"/>
          <ac:spMkLst>
            <pc:docMk/>
            <pc:sldMk cId="1764206999" sldId="256"/>
            <ac:spMk id="2" creationId="{39188758-A849-1DF1-0014-3BB0EED80639}"/>
          </ac:spMkLst>
        </pc:spChg>
        <pc:spChg chg="add del mod">
          <ac:chgData name="Nair, Satish" userId="af50c098-07d3-4545-ad93-15c24b849386" providerId="ADAL" clId="{B575728E-D61F-49E0-BC8E-8DC5242C7AE2}" dt="2026-03-23T18:11:48.034" v="1586"/>
          <ac:spMkLst>
            <pc:docMk/>
            <pc:sldMk cId="1764206999" sldId="256"/>
            <ac:spMk id="3" creationId="{6D650F9E-E20D-0E94-09E5-7C45C205E7A4}"/>
          </ac:spMkLst>
        </pc:spChg>
        <pc:spChg chg="add del mod">
          <ac:chgData name="Nair, Satish" userId="af50c098-07d3-4545-ad93-15c24b849386" providerId="ADAL" clId="{B575728E-D61F-49E0-BC8E-8DC5242C7AE2}" dt="2026-03-23T00:25:36.150" v="830" actId="478"/>
          <ac:spMkLst>
            <pc:docMk/>
            <pc:sldMk cId="1764206999" sldId="256"/>
            <ac:spMk id="4" creationId="{D0B1748E-1251-FBC2-DAD5-783A4BA8FD4D}"/>
          </ac:spMkLst>
        </pc:spChg>
        <pc:spChg chg="add del mod">
          <ac:chgData name="Nair, Satish" userId="af50c098-07d3-4545-ad93-15c24b849386" providerId="ADAL" clId="{B575728E-D61F-49E0-BC8E-8DC5242C7AE2}" dt="2026-03-23T00:25:07.857" v="818" actId="478"/>
          <ac:spMkLst>
            <pc:docMk/>
            <pc:sldMk cId="1764206999" sldId="256"/>
            <ac:spMk id="49" creationId="{B678ABA9-97F5-D968-F89D-2DC5809A2784}"/>
          </ac:spMkLst>
        </pc:spChg>
        <pc:grpChg chg="add del mod">
          <ac:chgData name="Nair, Satish" userId="af50c098-07d3-4545-ad93-15c24b849386" providerId="ADAL" clId="{B575728E-D61F-49E0-BC8E-8DC5242C7AE2}" dt="2026-03-23T00:25:09.704" v="819" actId="478"/>
          <ac:grpSpMkLst>
            <pc:docMk/>
            <pc:sldMk cId="1764206999" sldId="256"/>
            <ac:grpSpMk id="28" creationId="{E773B030-03FB-FE6E-DC4E-4E37D3E8CA5B}"/>
          </ac:grpSpMkLst>
        </pc:grpChg>
        <pc:picChg chg="add del mod modCrop">
          <ac:chgData name="Nair, Satish" userId="af50c098-07d3-4545-ad93-15c24b849386" providerId="ADAL" clId="{B575728E-D61F-49E0-BC8E-8DC5242C7AE2}" dt="2026-03-23T00:25:06.837" v="817" actId="478"/>
          <ac:picMkLst>
            <pc:docMk/>
            <pc:sldMk cId="1764206999" sldId="256"/>
            <ac:picMk id="5" creationId="{524F5E02-7CEC-3F65-26D4-09812CA9AA22}"/>
          </ac:picMkLst>
        </pc:picChg>
        <pc:cxnChg chg="mod">
          <ac:chgData name="Nair, Satish" userId="af50c098-07d3-4545-ad93-15c24b849386" providerId="ADAL" clId="{B575728E-D61F-49E0-BC8E-8DC5242C7AE2}" dt="2026-03-23T00:25:09.704" v="819" actId="478"/>
          <ac:cxnSpMkLst>
            <pc:docMk/>
            <pc:sldMk cId="1764206999" sldId="256"/>
            <ac:cxnSpMk id="37" creationId="{B1321F52-5E77-C599-7E27-D3D23D7D7A28}"/>
          </ac:cxnSpMkLst>
        </pc:cxnChg>
        <pc:cxnChg chg="mod">
          <ac:chgData name="Nair, Satish" userId="af50c098-07d3-4545-ad93-15c24b849386" providerId="ADAL" clId="{B575728E-D61F-49E0-BC8E-8DC5242C7AE2}" dt="2026-03-23T00:25:09.704" v="819" actId="478"/>
          <ac:cxnSpMkLst>
            <pc:docMk/>
            <pc:sldMk cId="1764206999" sldId="256"/>
            <ac:cxnSpMk id="38" creationId="{1FBE5CB6-8068-8946-2571-4D112E6CC9B1}"/>
          </ac:cxnSpMkLst>
        </pc:cxnChg>
        <pc:cxnChg chg="mod">
          <ac:chgData name="Nair, Satish" userId="af50c098-07d3-4545-ad93-15c24b849386" providerId="ADAL" clId="{B575728E-D61F-49E0-BC8E-8DC5242C7AE2}" dt="2026-03-23T00:25:09.704" v="819" actId="478"/>
          <ac:cxnSpMkLst>
            <pc:docMk/>
            <pc:sldMk cId="1764206999" sldId="256"/>
            <ac:cxnSpMk id="39" creationId="{05F83C33-C8A9-73F2-8192-455A4054270C}"/>
          </ac:cxnSpMkLst>
        </pc:cxnChg>
      </pc:sldChg>
      <pc:sldChg chg="addSp delSp modSp add mod">
        <pc:chgData name="Nair, Satish" userId="af50c098-07d3-4545-ad93-15c24b849386" providerId="ADAL" clId="{B575728E-D61F-49E0-BC8E-8DC5242C7AE2}" dt="2026-03-09T05:21:58.946" v="780" actId="1076"/>
        <pc:sldMkLst>
          <pc:docMk/>
          <pc:sldMk cId="1400458227" sldId="257"/>
        </pc:sldMkLst>
        <pc:spChg chg="mod">
          <ac:chgData name="Nair, Satish" userId="af50c098-07d3-4545-ad93-15c24b849386" providerId="ADAL" clId="{B575728E-D61F-49E0-BC8E-8DC5242C7AE2}" dt="2026-03-09T04:12:54.799" v="718" actId="20577"/>
          <ac:spMkLst>
            <pc:docMk/>
            <pc:sldMk cId="1400458227" sldId="257"/>
            <ac:spMk id="4" creationId="{57B7E94E-D504-0D83-9828-0FD6A0C034C0}"/>
          </ac:spMkLst>
        </pc:spChg>
        <pc:picChg chg="add mod">
          <ac:chgData name="Nair, Satish" userId="af50c098-07d3-4545-ad93-15c24b849386" providerId="ADAL" clId="{B575728E-D61F-49E0-BC8E-8DC5242C7AE2}" dt="2026-03-09T05:21:58.946" v="780" actId="1076"/>
          <ac:picMkLst>
            <pc:docMk/>
            <pc:sldMk cId="1400458227" sldId="257"/>
            <ac:picMk id="2" creationId="{31E250D9-2053-D63C-D54F-8C6AE358FB1D}"/>
          </ac:picMkLst>
        </pc:picChg>
      </pc:sldChg>
      <pc:sldChg chg="delSp modSp add mod">
        <pc:chgData name="Nair, Satish" userId="af50c098-07d3-4545-ad93-15c24b849386" providerId="ADAL" clId="{B575728E-D61F-49E0-BC8E-8DC5242C7AE2}" dt="2026-03-09T04:15:38.156" v="752" actId="14100"/>
        <pc:sldMkLst>
          <pc:docMk/>
          <pc:sldMk cId="3790124111" sldId="258"/>
        </pc:sldMkLst>
        <pc:spChg chg="mod">
          <ac:chgData name="Nair, Satish" userId="af50c098-07d3-4545-ad93-15c24b849386" providerId="ADAL" clId="{B575728E-D61F-49E0-BC8E-8DC5242C7AE2}" dt="2026-03-09T04:15:38.156" v="752" actId="14100"/>
          <ac:spMkLst>
            <pc:docMk/>
            <pc:sldMk cId="3790124111" sldId="258"/>
            <ac:spMk id="4" creationId="{3A4B6703-BB87-CC93-C44D-A0EA8FBF70C6}"/>
          </ac:spMkLst>
        </pc:spChg>
      </pc:sldChg>
      <pc:sldChg chg="addSp delSp modSp add mod">
        <pc:chgData name="Nair, Satish" userId="af50c098-07d3-4545-ad93-15c24b849386" providerId="ADAL" clId="{B575728E-D61F-49E0-BC8E-8DC5242C7AE2}" dt="2026-03-21T15:24:58.021" v="811" actId="20577"/>
        <pc:sldMkLst>
          <pc:docMk/>
          <pc:sldMk cId="3466701418" sldId="259"/>
        </pc:sldMkLst>
        <pc:spChg chg="mod">
          <ac:chgData name="Nair, Satish" userId="af50c098-07d3-4545-ad93-15c24b849386" providerId="ADAL" clId="{B575728E-D61F-49E0-BC8E-8DC5242C7AE2}" dt="2026-03-21T15:24:58.021" v="811" actId="20577"/>
          <ac:spMkLst>
            <pc:docMk/>
            <pc:sldMk cId="3466701418" sldId="259"/>
            <ac:spMk id="4" creationId="{57DC6B9D-836D-8F10-44A9-6C6C9022E382}"/>
          </ac:spMkLst>
        </pc:spChg>
        <pc:picChg chg="add mod">
          <ac:chgData name="Nair, Satish" userId="af50c098-07d3-4545-ad93-15c24b849386" providerId="ADAL" clId="{B575728E-D61F-49E0-BC8E-8DC5242C7AE2}" dt="2026-03-09T05:24:57.804" v="807" actId="1076"/>
          <ac:picMkLst>
            <pc:docMk/>
            <pc:sldMk cId="3466701418" sldId="259"/>
            <ac:picMk id="5" creationId="{49F9AB5A-D88F-A14A-009D-FDEDD41823DB}"/>
          </ac:picMkLst>
        </pc:picChg>
      </pc:sldChg>
      <pc:sldChg chg="modSp add mod">
        <pc:chgData name="Nair, Satish" userId="af50c098-07d3-4545-ad93-15c24b849386" providerId="ADAL" clId="{B575728E-D61F-49E0-BC8E-8DC5242C7AE2}" dt="2026-03-23T05:46:31.582" v="1557" actId="20577"/>
        <pc:sldMkLst>
          <pc:docMk/>
          <pc:sldMk cId="4028565224" sldId="260"/>
        </pc:sldMkLst>
        <pc:spChg chg="mod">
          <ac:chgData name="Nair, Satish" userId="af50c098-07d3-4545-ad93-15c24b849386" providerId="ADAL" clId="{B575728E-D61F-49E0-BC8E-8DC5242C7AE2}" dt="2026-03-23T05:46:31.582" v="1557" actId="20577"/>
          <ac:spMkLst>
            <pc:docMk/>
            <pc:sldMk cId="4028565224" sldId="260"/>
            <ac:spMk id="4" creationId="{04CE9811-D4FD-2D6E-D12D-5EB74349DDC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BC25-E4D0-7EDF-CE1F-4B8DDCCAA5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556AE-079E-25B5-E6D4-7EFE93828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DAE12-89D4-2C01-C85B-2FB931553425}"/>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5" name="Footer Placeholder 4">
            <a:extLst>
              <a:ext uri="{FF2B5EF4-FFF2-40B4-BE49-F238E27FC236}">
                <a16:creationId xmlns:a16="http://schemas.microsoft.com/office/drawing/2014/main" id="{4892D36B-E89B-2B2A-EA81-C2D8FE9F2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B647-D4F0-0CBD-9FCD-6AA17D91AB0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09613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202F-860B-2A8C-6828-662DBF97C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6339E-6F0F-2AFC-EE0C-F6945D5B7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EFB29-270D-657A-3555-232011A652C7}"/>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5" name="Footer Placeholder 4">
            <a:extLst>
              <a:ext uri="{FF2B5EF4-FFF2-40B4-BE49-F238E27FC236}">
                <a16:creationId xmlns:a16="http://schemas.microsoft.com/office/drawing/2014/main" id="{E807D7C0-8285-63EA-E0F9-F6A4B2A8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4DBF-836E-9006-E9B8-37C5FA7AEB1A}"/>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2044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449-E5D4-C801-9520-E077C448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A8A-B4A1-B128-9813-263FF5942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A2B91-43EB-F8DE-3EAC-18E03AC5E419}"/>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5" name="Footer Placeholder 4">
            <a:extLst>
              <a:ext uri="{FF2B5EF4-FFF2-40B4-BE49-F238E27FC236}">
                <a16:creationId xmlns:a16="http://schemas.microsoft.com/office/drawing/2014/main" id="{F541FD23-0821-B07E-2D22-4AF75E0C0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FD298-7808-47BB-C70F-8D15CC58FA3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6793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9BF0-EFDF-C2E4-E77E-9E53B8C72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2189-51E1-5DDD-EBF5-1D719F425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122BAC-B11B-0870-41B2-659CE9A3E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0896F-6B39-A7B1-CF35-02285AB3AC29}"/>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6" name="Footer Placeholder 5">
            <a:extLst>
              <a:ext uri="{FF2B5EF4-FFF2-40B4-BE49-F238E27FC236}">
                <a16:creationId xmlns:a16="http://schemas.microsoft.com/office/drawing/2014/main" id="{B574AFDF-3661-3D13-1ADC-A764383B3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F5C7-8CD9-714A-1AA6-1DD93109D7A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29940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5D81-C967-CC36-DA82-AFDA30DC6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DA566-44E7-1A79-2A4C-C723C5C1C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DAB48-485E-6D7E-5F3A-D1B7668A0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6E116-9EFE-8AF6-6A80-00CC1172E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36710-6A60-9C82-8C03-7BBFE01CB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54922-460A-6337-DE69-954D3F61DB3C}"/>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8" name="Footer Placeholder 7">
            <a:extLst>
              <a:ext uri="{FF2B5EF4-FFF2-40B4-BE49-F238E27FC236}">
                <a16:creationId xmlns:a16="http://schemas.microsoft.com/office/drawing/2014/main" id="{4828447E-CC2F-BCA7-ED21-0B63289EB1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FCA31-7DC7-B80C-8196-CCB2CF4910F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9145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B1B0-D5A6-A083-E837-E343ECC414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32E81-651C-A081-C36A-2C102D2162C1}"/>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4" name="Footer Placeholder 3">
            <a:extLst>
              <a:ext uri="{FF2B5EF4-FFF2-40B4-BE49-F238E27FC236}">
                <a16:creationId xmlns:a16="http://schemas.microsoft.com/office/drawing/2014/main" id="{FE53045E-365F-2897-8F60-C6B974364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D3BB0-96C4-B03D-F658-6D7D42CA59D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49464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E5BB2-789D-A963-4374-BD1B26C5D18F}"/>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3" name="Footer Placeholder 2">
            <a:extLst>
              <a:ext uri="{FF2B5EF4-FFF2-40B4-BE49-F238E27FC236}">
                <a16:creationId xmlns:a16="http://schemas.microsoft.com/office/drawing/2014/main" id="{3BF2CAC2-E085-78CE-7BE5-446BBBBA18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B80DC7-119B-88A3-3125-83244762987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7274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6FD8-043D-1271-4FD8-B1CC2D1D6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9759-6CC6-2C30-BBEB-83CBAFDFF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585A-4571-F1F0-0499-463A980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DA0A2-94D4-C7CC-9F5B-C36F4FCA1694}"/>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6" name="Footer Placeholder 5">
            <a:extLst>
              <a:ext uri="{FF2B5EF4-FFF2-40B4-BE49-F238E27FC236}">
                <a16:creationId xmlns:a16="http://schemas.microsoft.com/office/drawing/2014/main" id="{F4B58BA8-F8B8-83F6-1301-234DB02E7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E65DE-7BFA-DA62-9B84-8E03D965ED9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6325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AAAD-1FCE-F895-EDB7-8E1238A0C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9F2322-C6E1-E87D-6BDC-D6DADC386A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02B28A-F013-0E17-E011-CF725AF64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EC82A-8E7D-0DE8-B45F-253D93F2974B}"/>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6" name="Footer Placeholder 5">
            <a:extLst>
              <a:ext uri="{FF2B5EF4-FFF2-40B4-BE49-F238E27FC236}">
                <a16:creationId xmlns:a16="http://schemas.microsoft.com/office/drawing/2014/main" id="{C3ED65E2-C35A-72A7-05F7-F621C2B21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9BAF-C86F-A3EE-B32E-8E5B045E4070}"/>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58233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07E-A242-1C2E-7DD7-C767D9440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46C6D-C9C6-4563-9F83-E06DF7D78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1774B-8B86-278A-7EF8-B4157B05C57D}"/>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5" name="Footer Placeholder 4">
            <a:extLst>
              <a:ext uri="{FF2B5EF4-FFF2-40B4-BE49-F238E27FC236}">
                <a16:creationId xmlns:a16="http://schemas.microsoft.com/office/drawing/2014/main" id="{8DDF2AAB-D0B7-DB24-5F3F-5DDA932F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B039D-7797-567B-51AE-A783FB654B14}"/>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532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02D9F8-9453-27F4-4665-3C6C06F09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E82A-43C4-24B7-90BD-0BE9C2872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BCC4-F4E7-7368-2BE5-563E46805CFA}"/>
              </a:ext>
            </a:extLst>
          </p:cNvPr>
          <p:cNvSpPr>
            <a:spLocks noGrp="1"/>
          </p:cNvSpPr>
          <p:nvPr>
            <p:ph type="dt" sz="half" idx="10"/>
          </p:nvPr>
        </p:nvSpPr>
        <p:spPr/>
        <p:txBody>
          <a:bodyPr/>
          <a:lstStyle/>
          <a:p>
            <a:fld id="{F2475B0F-264E-4F4A-9FA0-BF2616282788}" type="datetimeFigureOut">
              <a:rPr lang="en-US" smtClean="0"/>
              <a:t>3/23/2026</a:t>
            </a:fld>
            <a:endParaRPr lang="en-US"/>
          </a:p>
        </p:txBody>
      </p:sp>
      <p:sp>
        <p:nvSpPr>
          <p:cNvPr id="5" name="Footer Placeholder 4">
            <a:extLst>
              <a:ext uri="{FF2B5EF4-FFF2-40B4-BE49-F238E27FC236}">
                <a16:creationId xmlns:a16="http://schemas.microsoft.com/office/drawing/2014/main" id="{9A64B331-FF8D-F00B-EC01-08E191BC7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1F4EB-8993-02EE-E725-E439A61035F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56877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89E9D-406E-AED0-62E1-1D3E976FAC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C5FCEC-69C0-040D-78F3-D9F581A54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8F6A3-D9C5-1FFB-3440-535EC453C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475B0F-264E-4F4A-9FA0-BF2616282788}" type="datetimeFigureOut">
              <a:rPr lang="en-US" smtClean="0"/>
              <a:t>3/23/2026</a:t>
            </a:fld>
            <a:endParaRPr lang="en-US"/>
          </a:p>
        </p:txBody>
      </p:sp>
      <p:sp>
        <p:nvSpPr>
          <p:cNvPr id="5" name="Footer Placeholder 4">
            <a:extLst>
              <a:ext uri="{FF2B5EF4-FFF2-40B4-BE49-F238E27FC236}">
                <a16:creationId xmlns:a16="http://schemas.microsoft.com/office/drawing/2014/main" id="{9C638BA6-5EC0-D741-9EBC-77C5601AE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3ED57-03D5-A76D-A2B4-C89354A474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CF24B-AFC1-4E9A-A5EA-281CA027E13D}" type="slidenum">
              <a:rPr lang="en-US" smtClean="0"/>
              <a:t>‹#›</a:t>
            </a:fld>
            <a:endParaRPr lang="en-US"/>
          </a:p>
        </p:txBody>
      </p:sp>
    </p:spTree>
    <p:extLst>
      <p:ext uri="{BB962C8B-B14F-4D97-AF65-F5344CB8AC3E}">
        <p14:creationId xmlns:p14="http://schemas.microsoft.com/office/powerpoint/2010/main" val="282055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olab.research.google.com/github/cyneuro/Chapter_Colabs/blob/main/Colab_A.ipynb"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650F9E-E20D-0E94-09E5-7C45C205E7A4}"/>
              </a:ext>
            </a:extLst>
          </p:cNvPr>
          <p:cNvSpPr>
            <a:spLocks noChangeArrowheads="1"/>
          </p:cNvSpPr>
          <p:nvPr/>
        </p:nvSpPr>
        <p:spPr bwMode="auto">
          <a:xfrm>
            <a:off x="819993" y="174354"/>
            <a:ext cx="10552014" cy="6170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tab pos="171450" algn="l"/>
              </a:tabLst>
            </a:pPr>
            <a:r>
              <a:rPr kumimoji="0" lang="en-US" altLang="en-US" sz="2000" b="1" i="0" u="none" strike="noStrike" cap="none" normalizeH="0" baseline="0" dirty="0">
                <a:ln>
                  <a:noFill/>
                </a:ln>
                <a:solidFill>
                  <a:srgbClr val="0070C0"/>
                </a:solidFill>
                <a:effectLst/>
                <a:latin typeface="+mn-lt"/>
                <a:ea typeface="Times New Roman" panose="02020603050405020304" pitchFamily="18" charset="0"/>
                <a:cs typeface="Times New Roman" panose="02020603050405020304" pitchFamily="18" charset="0"/>
              </a:rPr>
              <a:t>A. NEUROBIOLOGY REFRESHER</a:t>
            </a:r>
          </a:p>
          <a:p>
            <a:pPr marL="342900" marR="0" lvl="0" indent="-342900" algn="ctr" defTabSz="914400" rtl="0" eaLnBrk="0" fontAlgn="base" latinLnBrk="0" hangingPunct="0">
              <a:lnSpc>
                <a:spcPct val="100000"/>
              </a:lnSpc>
              <a:spcBef>
                <a:spcPct val="0"/>
              </a:spcBef>
              <a:spcAft>
                <a:spcPct val="0"/>
              </a:spcAft>
              <a:buClrTx/>
              <a:buSzTx/>
              <a:buFontTx/>
              <a:buAutoNum type="alphaUcPeriod"/>
              <a:tabLst>
                <a:tab pos="171450" algn="l"/>
              </a:tabLst>
            </a:pPr>
            <a:endParaRPr kumimoji="0" lang="en-US" altLang="en-U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This refresher distills the minimum neurobiology needed to understand the modeling concepts discussed in the chapter. Learners first revisit the semi‑permeable membrane and ion selectivity, then link Nernst (equilibrium) potentials to reversal potentials to explain the sign and magnitude of synaptic currents. From there, the membrane as an RC low‑pass filter motivates the time constant (τ) and step/impulse responses; a single dendritic cable introduces electrotonic distance (λ) and explains why otherwise identical synapses exert different somatic leverage purely by location. The refresher closes with a qualitative view of spike generation (threshold, refractoriness) and a first look at E/I timing motifs (e.g., feedforward inhibition) that will reappear in circuit models.</a:t>
            </a:r>
            <a:endParaRPr kumimoji="0" lang="en-US" altLang="en-US" sz="17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To support active reading, the </a:t>
            </a:r>
            <a:r>
              <a:rPr kumimoji="0" lang="en-US" altLang="en-US" sz="1700" b="0" i="0" u="none" strike="noStrike" cap="none" normalizeH="0" dirty="0">
                <a:ln>
                  <a:noFill/>
                </a:ln>
                <a:solidFill>
                  <a:schemeClr val="tx1"/>
                </a:solidFill>
                <a:effectLst/>
                <a:latin typeface="+mn-lt"/>
                <a:ea typeface="Times New Roman" panose="02020603050405020304" pitchFamily="18" charset="0"/>
                <a:cs typeface="Times New Roman" panose="02020603050405020304" pitchFamily="18" charset="0"/>
              </a:rPr>
              <a:t>refresher</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provides guided prompts for locating one or two high‑quality “explainers” per concept (e.g., Nernst intuition, τ animations, cable attenuation). It also includes micro‑checks that ask students to predict current sign from </a:t>
            </a:r>
            <a:r>
              <a:rPr kumimoji="0" lang="en-US" altLang="en-US" sz="1700" b="0" i="0" u="none" strike="noStrike" cap="none" normalizeH="0" baseline="0" dirty="0" err="1">
                <a:ln>
                  <a:noFill/>
                </a:ln>
                <a:solidFill>
                  <a:schemeClr val="tx1"/>
                </a:solidFill>
                <a:effectLst/>
                <a:latin typeface="+mn-lt"/>
                <a:ea typeface="Times New Roman" panose="02020603050405020304" pitchFamily="18" charset="0"/>
                <a:cs typeface="Times New Roman" panose="02020603050405020304" pitchFamily="18" charset="0"/>
              </a:rPr>
              <a:t>E_rev</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and </a:t>
            </a:r>
            <a:r>
              <a:rPr kumimoji="0" lang="en-US" altLang="en-US" sz="1700" b="0" i="0" u="none" strike="noStrike" cap="none" normalizeH="0" baseline="0" dirty="0" err="1">
                <a:ln>
                  <a:noFill/>
                </a:ln>
                <a:solidFill>
                  <a:schemeClr val="tx1"/>
                </a:solidFill>
                <a:effectLst/>
                <a:latin typeface="+mn-lt"/>
                <a:ea typeface="Times New Roman" panose="02020603050405020304" pitchFamily="18" charset="0"/>
                <a:cs typeface="Times New Roman" panose="02020603050405020304" pitchFamily="18" charset="0"/>
              </a:rPr>
              <a:t>V_m</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reason about how changing [K⁺]_out shifts E_K, and connect larger τ to EPSP shape and coincidence detection. These brief items bridge directly to the modeling work: the same variables (</a:t>
            </a:r>
            <a:r>
              <a:rPr kumimoji="0" lang="en-US" altLang="en-US" sz="1700" b="0" i="0" u="none" strike="noStrike" cap="none" normalizeH="0" baseline="0" dirty="0" err="1">
                <a:ln>
                  <a:noFill/>
                </a:ln>
                <a:solidFill>
                  <a:schemeClr val="tx1"/>
                </a:solidFill>
                <a:effectLst/>
                <a:latin typeface="+mn-lt"/>
                <a:ea typeface="Times New Roman" panose="02020603050405020304" pitchFamily="18" charset="0"/>
                <a:cs typeface="Times New Roman" panose="02020603050405020304" pitchFamily="18" charset="0"/>
              </a:rPr>
              <a:t>E_rev</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τ, λ) become adjustable knobs in </a:t>
            </a:r>
            <a:r>
              <a:rPr kumimoji="0" lang="en-US" altLang="en-US" sz="1700" b="0" i="1"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Set B</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reappear in passive vs. active analyses in </a:t>
            </a:r>
            <a:r>
              <a:rPr kumimoji="0" lang="en-US" altLang="en-US" sz="1700" b="0" i="1"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Sets C–E</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scaffold network dynamics in </a:t>
            </a:r>
            <a:r>
              <a:rPr kumimoji="0" lang="en-US" altLang="en-US" sz="1700" b="0" i="1"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Set F</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and ground mechanistic interpretations of behavior in </a:t>
            </a:r>
            <a:r>
              <a:rPr kumimoji="0" lang="en-US" altLang="en-US" sz="1700" b="0" i="1"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Set G</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and device outputs in </a:t>
            </a:r>
            <a:r>
              <a:rPr kumimoji="0" lang="en-US" altLang="en-US" sz="1700" b="0" i="1"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Set H</a:t>
            </a:r>
            <a:r>
              <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The refresher provides a compact vocabulary so students can recognize and reuse core state variables and readouts across all level, from membrane to behavior.</a:t>
            </a: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lang="en-US" altLang="en-US" sz="1700" dirty="0">
              <a:latin typeface="+mn-lt"/>
              <a:cs typeface="Times New Roman" panose="02020603050405020304" pitchFamily="18" charset="0"/>
            </a:endParaRPr>
          </a:p>
          <a:p>
            <a:r>
              <a:rPr lang="en-US" altLang="en-US" sz="1700" u="sng" dirty="0">
                <a:latin typeface="+mn-lt"/>
                <a:ea typeface="Times New Roman" panose="02020603050405020304" pitchFamily="18" charset="0"/>
                <a:cs typeface="Times New Roman" panose="02020603050405020304" pitchFamily="18" charset="0"/>
              </a:rPr>
              <a:t>Getting started</a:t>
            </a:r>
            <a:r>
              <a:rPr lang="en-US" altLang="en-US" sz="1700" dirty="0">
                <a:latin typeface="+mn-lt"/>
                <a:ea typeface="Times New Roman" panose="02020603050405020304" pitchFamily="18" charset="0"/>
                <a:cs typeface="Times New Roman" panose="02020603050405020304" pitchFamily="18" charset="0"/>
              </a:rPr>
              <a:t>: Click on the following link - </a:t>
            </a:r>
            <a:r>
              <a:rPr lang="en-US" dirty="0"/>
              <a:t> </a:t>
            </a:r>
            <a:r>
              <a:rPr lang="en-US" u="sng">
                <a:hlinkClick r:id="rId2"/>
              </a:rPr>
              <a:t>Colab_A</a:t>
            </a:r>
            <a:r>
              <a:rPr lang="en-US" altLang="en-US" sz="1700">
                <a:latin typeface="+mn-lt"/>
                <a:ea typeface="Times New Roman" panose="02020603050405020304" pitchFamily="18" charset="0"/>
                <a:cs typeface="Times New Roman" panose="02020603050405020304" pitchFamily="18" charset="0"/>
              </a:rPr>
              <a:t> and </a:t>
            </a:r>
            <a:r>
              <a:rPr lang="en-US" altLang="en-US" sz="1700" dirty="0">
                <a:latin typeface="+mn-lt"/>
                <a:ea typeface="Times New Roman" panose="02020603050405020304" pitchFamily="18" charset="0"/>
                <a:cs typeface="Times New Roman" panose="02020603050405020304" pitchFamily="18" charset="0"/>
              </a:rPr>
              <a:t>complete the sequentially ar</a:t>
            </a:r>
            <a:r>
              <a:rPr lang="en-US" altLang="en-US" sz="1700" dirty="0">
                <a:latin typeface="Aptos" panose="020B0004020202020204" pitchFamily="34" charset="0"/>
                <a:ea typeface="Times New Roman" panose="02020603050405020304" pitchFamily="18" charset="0"/>
                <a:cs typeface="Times New Roman" panose="02020603050405020304" pitchFamily="18" charset="0"/>
              </a:rPr>
              <a:t>ranged hand-on learning - generating AI prompts for explanations and complete the exercises at the end.</a:t>
            </a:r>
          </a:p>
          <a:p>
            <a:endParaRPr lang="en-US" altLang="en-US" sz="1700" dirty="0">
              <a:latin typeface="Aptos" panose="020B0004020202020204" pitchFamily="34" charset="0"/>
              <a:cs typeface="Times New Roman" panose="02020603050405020304" pitchFamily="18" charset="0"/>
            </a:endParaRPr>
          </a:p>
          <a:p>
            <a:r>
              <a:rPr lang="en-US" altLang="en-US" sz="1700" u="sng" dirty="0">
                <a:latin typeface="Aptos" panose="020B0004020202020204" pitchFamily="34" charset="0"/>
                <a:cs typeface="Times New Roman" panose="02020603050405020304" pitchFamily="18" charset="0"/>
              </a:rPr>
              <a:t>A set of slides are provided to get started - the learner is encouraged to add more as appropriate.</a:t>
            </a:r>
            <a:endParaRPr lang="en-US" altLang="en-US" sz="1700" u="sng" dirty="0"/>
          </a:p>
        </p:txBody>
      </p:sp>
    </p:spTree>
    <p:extLst>
      <p:ext uri="{BB962C8B-B14F-4D97-AF65-F5344CB8AC3E}">
        <p14:creationId xmlns:p14="http://schemas.microsoft.com/office/powerpoint/2010/main" val="1764206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E89E9-BC44-150D-B00A-FF86AE2865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CE9811-D4FD-2D6E-D12D-5EB74349DDCC}"/>
              </a:ext>
            </a:extLst>
          </p:cNvPr>
          <p:cNvSpPr txBox="1"/>
          <p:nvPr/>
        </p:nvSpPr>
        <p:spPr>
          <a:xfrm>
            <a:off x="566442" y="151179"/>
            <a:ext cx="10794775" cy="6555641"/>
          </a:xfrm>
          <a:prstGeom prst="rect">
            <a:avLst/>
          </a:prstGeom>
          <a:noFill/>
        </p:spPr>
        <p:txBody>
          <a:bodyPr wrap="square" rtlCol="0">
            <a:spAutoFit/>
          </a:bodyPr>
          <a:lstStyle/>
          <a:p>
            <a:r>
              <a:rPr lang="en-US" sz="1600" b="1" dirty="0"/>
              <a:t>			</a:t>
            </a:r>
            <a:r>
              <a:rPr lang="en-US" b="1" dirty="0">
                <a:solidFill>
                  <a:srgbClr val="0070C0"/>
                </a:solidFill>
              </a:rPr>
              <a:t>BIOLOGICAL STRUCTURE OF A NEURON</a:t>
            </a:r>
          </a:p>
          <a:p>
            <a:endParaRPr lang="en-US" dirty="0"/>
          </a:p>
          <a:p>
            <a:r>
              <a:rPr lang="en-US" sz="1600" b="1" dirty="0"/>
              <a:t>A1. What Is a Neuron? — A Biological Cell With Special Morphology</a:t>
            </a:r>
            <a:br>
              <a:rPr lang="en-US" sz="1600" dirty="0"/>
            </a:br>
            <a:r>
              <a:rPr lang="en-US" sz="1600" dirty="0"/>
              <a:t>A neuron is a single eukaryotic cell with a nucleus, cytoplasm, organelles </a:t>
            </a:r>
          </a:p>
          <a:p>
            <a:r>
              <a:rPr lang="en-US" sz="1600" dirty="0"/>
              <a:t>and a plasma membrane. Specialized morphology – compact soma with long </a:t>
            </a:r>
          </a:p>
          <a:p>
            <a:r>
              <a:rPr lang="en-US" sz="1600" dirty="0"/>
              <a:t>processes for long‑distance communication and complex connectivity.</a:t>
            </a:r>
          </a:p>
          <a:p>
            <a:r>
              <a:rPr lang="en-US" sz="1600" b="1" dirty="0"/>
              <a:t>Self‑learning prompt: </a:t>
            </a:r>
            <a:r>
              <a:rPr lang="en-US" sz="1600" dirty="0"/>
              <a:t>“Explain the biological structure and functions of </a:t>
            </a:r>
          </a:p>
          <a:p>
            <a:r>
              <a:rPr lang="en-US" sz="1600" dirty="0"/>
              <a:t>soma, dendrites, and axon. Include cytoskeleton roles (microtubules, actin, </a:t>
            </a:r>
          </a:p>
          <a:p>
            <a:r>
              <a:rPr lang="en-US" sz="1600" dirty="0"/>
              <a:t>neurofilaments) and intracellular transport (kinesin/dynein) in everyday</a:t>
            </a:r>
          </a:p>
          <a:p>
            <a:r>
              <a:rPr lang="en-US" sz="1600" dirty="0"/>
              <a:t>neuronal maintenance—no electrophysiology.”</a:t>
            </a:r>
            <a:br>
              <a:rPr lang="en-US" sz="1600" dirty="0"/>
            </a:br>
            <a:endParaRPr lang="en-US" sz="1600" dirty="0"/>
          </a:p>
          <a:p>
            <a:r>
              <a:rPr lang="en-US" sz="1600" b="1" dirty="0"/>
              <a:t>A2. The Three Major Regions for signaling - Soma, Dendrites, Axon</a:t>
            </a:r>
            <a:endParaRPr lang="en-US" sz="1600" dirty="0"/>
          </a:p>
          <a:p>
            <a:pPr lvl="0"/>
            <a:r>
              <a:rPr lang="en-US" sz="1600" b="1" dirty="0"/>
              <a:t>Soma:</a:t>
            </a:r>
            <a:r>
              <a:rPr lang="en-US" sz="1600" dirty="0"/>
              <a:t> Houses the nucleus and core biosynthetic machinery.</a:t>
            </a:r>
          </a:p>
          <a:p>
            <a:pPr lvl="0"/>
            <a:r>
              <a:rPr lang="en-US" sz="1600" b="1" dirty="0"/>
              <a:t>Dendrites:</a:t>
            </a:r>
            <a:r>
              <a:rPr lang="en-US" sz="1600" dirty="0"/>
              <a:t> Branched extensions that receive inputs at synapses.</a:t>
            </a:r>
          </a:p>
          <a:p>
            <a:pPr lvl="0"/>
            <a:r>
              <a:rPr lang="en-US" sz="1600" b="1" dirty="0"/>
              <a:t>Axon:</a:t>
            </a:r>
            <a:r>
              <a:rPr lang="en-US" sz="1600" dirty="0"/>
              <a:t> Long projection that delivers outputs to targets at terminals.</a:t>
            </a:r>
          </a:p>
          <a:p>
            <a:r>
              <a:rPr lang="en-US" sz="1600" b="1" dirty="0"/>
              <a:t>Self‑learning prompt: </a:t>
            </a:r>
            <a:r>
              <a:rPr lang="en-US" sz="1600" dirty="0"/>
              <a:t>Now describe the neuron in terms of the </a:t>
            </a:r>
          </a:p>
          <a:p>
            <a:r>
              <a:rPr lang="en-US" sz="1600" dirty="0"/>
              <a:t>Function of communication. List the key components involved in </a:t>
            </a:r>
          </a:p>
          <a:p>
            <a:r>
              <a:rPr lang="en-US" sz="1600" dirty="0"/>
              <a:t>electrical communication, and their roles.</a:t>
            </a:r>
            <a:endParaRPr lang="en-US" sz="1600" b="1" dirty="0"/>
          </a:p>
          <a:p>
            <a:endParaRPr lang="en-US" sz="1600" dirty="0"/>
          </a:p>
          <a:p>
            <a:r>
              <a:rPr lang="en-US" sz="1600" b="1" dirty="0"/>
              <a:t>A3. Simplifying the Soma - Treating It as a Sphere</a:t>
            </a:r>
            <a:br>
              <a:rPr lang="en-US" sz="1600" dirty="0"/>
            </a:br>
            <a:r>
              <a:rPr lang="en-US" sz="1600" dirty="0"/>
              <a:t>For introductory reasoning, we often </a:t>
            </a:r>
            <a:r>
              <a:rPr lang="en-US" sz="1600" b="1" dirty="0"/>
              <a:t>approximate the soma as a sphere</a:t>
            </a:r>
            <a:r>
              <a:rPr lang="en-US" sz="1600" dirty="0"/>
              <a:t>. Real somas vary by cell type, but the spherical simplification helps keep attention on membrane and internal/external composition before adding complexity.</a:t>
            </a:r>
          </a:p>
          <a:p>
            <a:r>
              <a:rPr lang="en-US" sz="1600" b="1" dirty="0"/>
              <a:t>Self‑learning prompt: </a:t>
            </a:r>
            <a:r>
              <a:rPr lang="en-US" sz="1600" dirty="0"/>
              <a:t>Explain when and why biologists approximate the soma as spherical. Give two benefits and two limitations of this simplification in early learning (e.g., area/volume intuition, ignoring irregular surfaces).</a:t>
            </a:r>
            <a:br>
              <a:rPr lang="en-US" sz="1600" dirty="0"/>
            </a:br>
            <a:endParaRPr lang="en-US" sz="1600" dirty="0"/>
          </a:p>
        </p:txBody>
      </p:sp>
      <p:pic>
        <p:nvPicPr>
          <p:cNvPr id="5" name="Picture 4">
            <a:extLst>
              <a:ext uri="{FF2B5EF4-FFF2-40B4-BE49-F238E27FC236}">
                <a16:creationId xmlns:a16="http://schemas.microsoft.com/office/drawing/2014/main" id="{CFEF8CFC-8796-B088-6318-4871EEBECA0F}"/>
              </a:ext>
            </a:extLst>
          </p:cNvPr>
          <p:cNvPicPr>
            <a:picLocks noChangeAspect="1"/>
          </p:cNvPicPr>
          <p:nvPr/>
        </p:nvPicPr>
        <p:blipFill>
          <a:blip r:embed="rId2">
            <a:extLst>
              <a:ext uri="{28A0092B-C50C-407E-A947-70E740481C1C}">
                <a14:useLocalDpi xmlns:a14="http://schemas.microsoft.com/office/drawing/2010/main" val="0"/>
              </a:ext>
            </a:extLst>
          </a:blip>
          <a:srcRect t="4400"/>
          <a:stretch>
            <a:fillRect/>
          </a:stretch>
        </p:blipFill>
        <p:spPr bwMode="auto">
          <a:xfrm>
            <a:off x="7666820" y="671640"/>
            <a:ext cx="4042355" cy="2497524"/>
          </a:xfrm>
          <a:prstGeom prst="rect">
            <a:avLst/>
          </a:prstGeom>
          <a:noFill/>
          <a:ln>
            <a:noFill/>
          </a:ln>
        </p:spPr>
      </p:pic>
      <p:grpSp>
        <p:nvGrpSpPr>
          <p:cNvPr id="28" name="Group 27">
            <a:extLst>
              <a:ext uri="{FF2B5EF4-FFF2-40B4-BE49-F238E27FC236}">
                <a16:creationId xmlns:a16="http://schemas.microsoft.com/office/drawing/2014/main" id="{3FC6AA1F-B441-2674-EEBB-CFE50EE44CEE}"/>
              </a:ext>
            </a:extLst>
          </p:cNvPr>
          <p:cNvGrpSpPr/>
          <p:nvPr/>
        </p:nvGrpSpPr>
        <p:grpSpPr>
          <a:xfrm>
            <a:off x="7196020" y="3273592"/>
            <a:ext cx="1905392" cy="1665875"/>
            <a:chOff x="531552" y="672367"/>
            <a:chExt cx="1905392" cy="1665875"/>
          </a:xfrm>
        </p:grpSpPr>
        <p:grpSp>
          <p:nvGrpSpPr>
            <p:cNvPr id="29" name="Group 28">
              <a:extLst>
                <a:ext uri="{FF2B5EF4-FFF2-40B4-BE49-F238E27FC236}">
                  <a16:creationId xmlns:a16="http://schemas.microsoft.com/office/drawing/2014/main" id="{4D2B889D-7EB7-9885-D0C2-1BD60C3D4269}"/>
                </a:ext>
              </a:extLst>
            </p:cNvPr>
            <p:cNvGrpSpPr/>
            <p:nvPr/>
          </p:nvGrpSpPr>
          <p:grpSpPr>
            <a:xfrm>
              <a:off x="531552" y="1003987"/>
              <a:ext cx="653161" cy="243560"/>
              <a:chOff x="1530000" y="1215175"/>
              <a:chExt cx="1191611" cy="464100"/>
            </a:xfrm>
          </p:grpSpPr>
          <p:cxnSp>
            <p:nvCxnSpPr>
              <p:cNvPr id="43" name="Google Shape;73;p16">
                <a:extLst>
                  <a:ext uri="{FF2B5EF4-FFF2-40B4-BE49-F238E27FC236}">
                    <a16:creationId xmlns:a16="http://schemas.microsoft.com/office/drawing/2014/main" id="{D4B2096B-0950-02CB-F3B9-AA0C0C52D238}"/>
                  </a:ext>
                </a:extLst>
              </p:cNvPr>
              <p:cNvCxnSpPr/>
              <p:nvPr/>
            </p:nvCxnSpPr>
            <p:spPr>
              <a:xfrm>
                <a:off x="1530000" y="1215175"/>
                <a:ext cx="19500" cy="4641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74;p16">
                <a:extLst>
                  <a:ext uri="{FF2B5EF4-FFF2-40B4-BE49-F238E27FC236}">
                    <a16:creationId xmlns:a16="http://schemas.microsoft.com/office/drawing/2014/main" id="{8A139155-B7D5-4D88-99B3-42B618DF593E}"/>
                  </a:ext>
                </a:extLst>
              </p:cNvPr>
              <p:cNvCxnSpPr/>
              <p:nvPr/>
            </p:nvCxnSpPr>
            <p:spPr>
              <a:xfrm>
                <a:off x="1769290" y="1215175"/>
                <a:ext cx="19500" cy="4641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75;p16">
                <a:extLst>
                  <a:ext uri="{FF2B5EF4-FFF2-40B4-BE49-F238E27FC236}">
                    <a16:creationId xmlns:a16="http://schemas.microsoft.com/office/drawing/2014/main" id="{E15C08A5-562C-4C59-0512-9A64C68EEE3E}"/>
                  </a:ext>
                </a:extLst>
              </p:cNvPr>
              <p:cNvCxnSpPr/>
              <p:nvPr/>
            </p:nvCxnSpPr>
            <p:spPr>
              <a:xfrm>
                <a:off x="1998844" y="1215175"/>
                <a:ext cx="19500" cy="4641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76;p16">
                <a:extLst>
                  <a:ext uri="{FF2B5EF4-FFF2-40B4-BE49-F238E27FC236}">
                    <a16:creationId xmlns:a16="http://schemas.microsoft.com/office/drawing/2014/main" id="{2272B855-39BF-1768-AFCA-F1F39BCD69E1}"/>
                  </a:ext>
                </a:extLst>
              </p:cNvPr>
              <p:cNvCxnSpPr/>
              <p:nvPr/>
            </p:nvCxnSpPr>
            <p:spPr>
              <a:xfrm>
                <a:off x="2233267" y="1215175"/>
                <a:ext cx="19500" cy="4641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77;p16">
                <a:extLst>
                  <a:ext uri="{FF2B5EF4-FFF2-40B4-BE49-F238E27FC236}">
                    <a16:creationId xmlns:a16="http://schemas.microsoft.com/office/drawing/2014/main" id="{5DC3A41C-326E-F035-3191-2A9018A6488A}"/>
                  </a:ext>
                </a:extLst>
              </p:cNvPr>
              <p:cNvCxnSpPr/>
              <p:nvPr/>
            </p:nvCxnSpPr>
            <p:spPr>
              <a:xfrm>
                <a:off x="2467689" y="1215175"/>
                <a:ext cx="19500" cy="4641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78;p16">
                <a:extLst>
                  <a:ext uri="{FF2B5EF4-FFF2-40B4-BE49-F238E27FC236}">
                    <a16:creationId xmlns:a16="http://schemas.microsoft.com/office/drawing/2014/main" id="{13A5DDB4-9583-0557-82B3-63FB3838E12B}"/>
                  </a:ext>
                </a:extLst>
              </p:cNvPr>
              <p:cNvCxnSpPr/>
              <p:nvPr/>
            </p:nvCxnSpPr>
            <p:spPr>
              <a:xfrm>
                <a:off x="2702111" y="1215175"/>
                <a:ext cx="19500" cy="464100"/>
              </a:xfrm>
              <a:prstGeom prst="straightConnector1">
                <a:avLst/>
              </a:prstGeom>
              <a:noFill/>
              <a:ln w="9525" cap="flat" cmpd="sng">
                <a:solidFill>
                  <a:schemeClr val="dk2"/>
                </a:solidFill>
                <a:prstDash val="solid"/>
                <a:round/>
                <a:headEnd type="none" w="med" len="med"/>
                <a:tailEnd type="none" w="med" len="med"/>
              </a:ln>
            </p:spPr>
          </p:cxnSp>
        </p:grpSp>
        <p:grpSp>
          <p:nvGrpSpPr>
            <p:cNvPr id="30" name="Group 29">
              <a:extLst>
                <a:ext uri="{FF2B5EF4-FFF2-40B4-BE49-F238E27FC236}">
                  <a16:creationId xmlns:a16="http://schemas.microsoft.com/office/drawing/2014/main" id="{23B36A98-A578-8A3E-6B40-6D302F924486}"/>
                </a:ext>
              </a:extLst>
            </p:cNvPr>
            <p:cNvGrpSpPr/>
            <p:nvPr/>
          </p:nvGrpSpPr>
          <p:grpSpPr>
            <a:xfrm>
              <a:off x="1301120" y="919283"/>
              <a:ext cx="754188" cy="1418959"/>
              <a:chOff x="3538847" y="969527"/>
              <a:chExt cx="1358734" cy="1880415"/>
            </a:xfrm>
          </p:grpSpPr>
          <p:cxnSp>
            <p:nvCxnSpPr>
              <p:cNvPr id="33" name="Google Shape;79;p16">
                <a:extLst>
                  <a:ext uri="{FF2B5EF4-FFF2-40B4-BE49-F238E27FC236}">
                    <a16:creationId xmlns:a16="http://schemas.microsoft.com/office/drawing/2014/main" id="{BAEB1D04-61F7-92B2-411A-8902B53F3C8D}"/>
                  </a:ext>
                </a:extLst>
              </p:cNvPr>
              <p:cNvCxnSpPr>
                <a:cxnSpLocks/>
              </p:cNvCxnSpPr>
              <p:nvPr/>
            </p:nvCxnSpPr>
            <p:spPr>
              <a:xfrm>
                <a:off x="3538847" y="1287037"/>
                <a:ext cx="749262" cy="0"/>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82;p16">
                <a:extLst>
                  <a:ext uri="{FF2B5EF4-FFF2-40B4-BE49-F238E27FC236}">
                    <a16:creationId xmlns:a16="http://schemas.microsoft.com/office/drawing/2014/main" id="{6620ADB3-441A-D182-CCDC-8BD63FB17E72}"/>
                  </a:ext>
                </a:extLst>
              </p:cNvPr>
              <p:cNvCxnSpPr>
                <a:cxnSpLocks/>
              </p:cNvCxnSpPr>
              <p:nvPr/>
            </p:nvCxnSpPr>
            <p:spPr>
              <a:xfrm flipV="1">
                <a:off x="4877127" y="969527"/>
                <a:ext cx="20454" cy="488448"/>
              </a:xfrm>
              <a:prstGeom prst="straightConnector1">
                <a:avLst/>
              </a:prstGeom>
              <a:noFill/>
              <a:ln w="9525" cap="flat" cmpd="sng">
                <a:solidFill>
                  <a:schemeClr val="dk2"/>
                </a:solidFill>
                <a:prstDash val="solid"/>
                <a:round/>
                <a:headEnd type="none" w="med" len="med"/>
                <a:tailEnd type="none" w="med" len="med"/>
              </a:ln>
            </p:spPr>
          </p:cxnSp>
          <p:grpSp>
            <p:nvGrpSpPr>
              <p:cNvPr id="36" name="Google Shape;83;p16">
                <a:extLst>
                  <a:ext uri="{FF2B5EF4-FFF2-40B4-BE49-F238E27FC236}">
                    <a16:creationId xmlns:a16="http://schemas.microsoft.com/office/drawing/2014/main" id="{AC84E984-570E-8E90-0371-DC77181DA714}"/>
                  </a:ext>
                </a:extLst>
              </p:cNvPr>
              <p:cNvGrpSpPr/>
              <p:nvPr/>
            </p:nvGrpSpPr>
            <p:grpSpPr>
              <a:xfrm>
                <a:off x="4262160" y="1216563"/>
                <a:ext cx="384561" cy="175055"/>
                <a:chOff x="2954925" y="2083200"/>
                <a:chExt cx="1982275" cy="687300"/>
              </a:xfrm>
            </p:grpSpPr>
            <p:sp>
              <p:nvSpPr>
                <p:cNvPr id="41" name="Google Shape;84;p16">
                  <a:extLst>
                    <a:ext uri="{FF2B5EF4-FFF2-40B4-BE49-F238E27FC236}">
                      <a16:creationId xmlns:a16="http://schemas.microsoft.com/office/drawing/2014/main" id="{F96FF190-71EB-008A-A688-0E2CE7A17D11}"/>
                    </a:ext>
                  </a:extLst>
                </p:cNvPr>
                <p:cNvSpPr/>
                <p:nvPr/>
              </p:nvSpPr>
              <p:spPr>
                <a:xfrm flipH="1">
                  <a:off x="2954925" y="2083200"/>
                  <a:ext cx="753900" cy="687300"/>
                </a:xfrm>
                <a:prstGeom prst="flowChartDelay">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5;p16">
                  <a:extLst>
                    <a:ext uri="{FF2B5EF4-FFF2-40B4-BE49-F238E27FC236}">
                      <a16:creationId xmlns:a16="http://schemas.microsoft.com/office/drawing/2014/main" id="{C2BF45A2-F3B4-8411-8FE5-75A826DB1AE0}"/>
                    </a:ext>
                  </a:extLst>
                </p:cNvPr>
                <p:cNvSpPr/>
                <p:nvPr/>
              </p:nvSpPr>
              <p:spPr>
                <a:xfrm>
                  <a:off x="4183300" y="2083200"/>
                  <a:ext cx="753900" cy="687300"/>
                </a:xfrm>
                <a:prstGeom prst="flowChartDelay">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7" name="Google Shape;86;p16">
                <a:extLst>
                  <a:ext uri="{FF2B5EF4-FFF2-40B4-BE49-F238E27FC236}">
                    <a16:creationId xmlns:a16="http://schemas.microsoft.com/office/drawing/2014/main" id="{1A80EE88-3878-6A0D-3E1E-2472B4EF03D8}"/>
                  </a:ext>
                </a:extLst>
              </p:cNvPr>
              <p:cNvCxnSpPr>
                <a:stCxn id="42" idx="3"/>
                <a:endCxn id="42" idx="3"/>
              </p:cNvCxnSpPr>
              <p:nvPr/>
            </p:nvCxnSpPr>
            <p:spPr>
              <a:xfrm>
                <a:off x="4646721" y="1304091"/>
                <a:ext cx="0" cy="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87;p16">
                <a:extLst>
                  <a:ext uri="{FF2B5EF4-FFF2-40B4-BE49-F238E27FC236}">
                    <a16:creationId xmlns:a16="http://schemas.microsoft.com/office/drawing/2014/main" id="{16C56079-CA9F-5B51-BB09-932E9F388F0E}"/>
                  </a:ext>
                </a:extLst>
              </p:cNvPr>
              <p:cNvCxnSpPr>
                <a:stCxn id="42" idx="3"/>
                <a:endCxn id="42" idx="3"/>
              </p:cNvCxnSpPr>
              <p:nvPr/>
            </p:nvCxnSpPr>
            <p:spPr>
              <a:xfrm>
                <a:off x="4646721" y="1304091"/>
                <a:ext cx="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88;p16">
                <a:extLst>
                  <a:ext uri="{FF2B5EF4-FFF2-40B4-BE49-F238E27FC236}">
                    <a16:creationId xmlns:a16="http://schemas.microsoft.com/office/drawing/2014/main" id="{88454C41-F90A-2A16-1D61-FE3B10FC8044}"/>
                  </a:ext>
                </a:extLst>
              </p:cNvPr>
              <p:cNvCxnSpPr>
                <a:stCxn id="42" idx="3"/>
              </p:cNvCxnSpPr>
              <p:nvPr/>
            </p:nvCxnSpPr>
            <p:spPr>
              <a:xfrm>
                <a:off x="4646721" y="1304091"/>
                <a:ext cx="228300" cy="60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98;p16">
                <a:extLst>
                  <a:ext uri="{FF2B5EF4-FFF2-40B4-BE49-F238E27FC236}">
                    <a16:creationId xmlns:a16="http://schemas.microsoft.com/office/drawing/2014/main" id="{15403674-3550-676A-CC67-2ABB767E245B}"/>
                  </a:ext>
                </a:extLst>
              </p:cNvPr>
              <p:cNvCxnSpPr>
                <a:cxnSpLocks/>
              </p:cNvCxnSpPr>
              <p:nvPr/>
            </p:nvCxnSpPr>
            <p:spPr>
              <a:xfrm>
                <a:off x="4877128" y="1893275"/>
                <a:ext cx="0" cy="956667"/>
              </a:xfrm>
              <a:prstGeom prst="straightConnector1">
                <a:avLst/>
              </a:prstGeom>
              <a:noFill/>
              <a:ln w="9525" cap="flat" cmpd="sng">
                <a:solidFill>
                  <a:schemeClr val="dk2"/>
                </a:solidFill>
                <a:prstDash val="solid"/>
                <a:round/>
                <a:headEnd type="none" w="med" len="med"/>
                <a:tailEnd type="triangle" w="lg" len="lg"/>
              </a:ln>
            </p:spPr>
          </p:cxnSp>
        </p:grpSp>
        <p:sp>
          <p:nvSpPr>
            <p:cNvPr id="31" name="TextBox 30">
              <a:extLst>
                <a:ext uri="{FF2B5EF4-FFF2-40B4-BE49-F238E27FC236}">
                  <a16:creationId xmlns:a16="http://schemas.microsoft.com/office/drawing/2014/main" id="{41A01FE7-442E-4C70-3DD7-6413F0573EF5}"/>
                </a:ext>
              </a:extLst>
            </p:cNvPr>
            <p:cNvSpPr txBox="1"/>
            <p:nvPr/>
          </p:nvSpPr>
          <p:spPr>
            <a:xfrm>
              <a:off x="608824" y="1278927"/>
              <a:ext cx="826991" cy="369332"/>
            </a:xfrm>
            <a:prstGeom prst="rect">
              <a:avLst/>
            </a:prstGeom>
            <a:noFill/>
          </p:spPr>
          <p:txBody>
            <a:bodyPr wrap="square" rtlCol="0">
              <a:spAutoFit/>
            </a:bodyPr>
            <a:lstStyle/>
            <a:p>
              <a:r>
                <a:rPr lang="en-US" b="1" dirty="0"/>
                <a:t>Tone</a:t>
              </a:r>
            </a:p>
          </p:txBody>
        </p:sp>
        <p:sp>
          <p:nvSpPr>
            <p:cNvPr id="32" name="Oval 31">
              <a:extLst>
                <a:ext uri="{FF2B5EF4-FFF2-40B4-BE49-F238E27FC236}">
                  <a16:creationId xmlns:a16="http://schemas.microsoft.com/office/drawing/2014/main" id="{2DAF9D32-0653-6D16-32F4-B14BBDF52441}"/>
                </a:ext>
              </a:extLst>
            </p:cNvPr>
            <p:cNvSpPr/>
            <p:nvPr/>
          </p:nvSpPr>
          <p:spPr>
            <a:xfrm>
              <a:off x="1544627" y="672367"/>
              <a:ext cx="892317" cy="1187473"/>
            </a:xfrm>
            <a:prstGeom prst="ellipse">
              <a:avLst/>
            </a:prstGeom>
            <a:noFill/>
            <a:ln>
              <a:gradFill>
                <a:gsLst>
                  <a:gs pos="0">
                    <a:schemeClr val="accent1">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Oval 48">
            <a:extLst>
              <a:ext uri="{FF2B5EF4-FFF2-40B4-BE49-F238E27FC236}">
                <a16:creationId xmlns:a16="http://schemas.microsoft.com/office/drawing/2014/main" id="{A97FF5E7-FF1C-0595-A7F4-A1001AEA684D}"/>
              </a:ext>
            </a:extLst>
          </p:cNvPr>
          <p:cNvSpPr/>
          <p:nvPr/>
        </p:nvSpPr>
        <p:spPr>
          <a:xfrm>
            <a:off x="8534474" y="3880152"/>
            <a:ext cx="345559" cy="345711"/>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28565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05E80-E63D-11F9-FC92-D87B80D501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B7E94E-D504-0D83-9828-0FD6A0C034C0}"/>
              </a:ext>
            </a:extLst>
          </p:cNvPr>
          <p:cNvSpPr txBox="1"/>
          <p:nvPr/>
        </p:nvSpPr>
        <p:spPr>
          <a:xfrm>
            <a:off x="267037" y="256376"/>
            <a:ext cx="11215561" cy="6709529"/>
          </a:xfrm>
          <a:prstGeom prst="rect">
            <a:avLst/>
          </a:prstGeom>
          <a:noFill/>
        </p:spPr>
        <p:txBody>
          <a:bodyPr wrap="square" rtlCol="0">
            <a:spAutoFit/>
          </a:bodyPr>
          <a:lstStyle/>
          <a:p>
            <a:r>
              <a:rPr lang="en-US" b="1" dirty="0"/>
              <a:t>A4. The Cell Membrane — Phospholipid Bilayer (Structure Only)</a:t>
            </a:r>
            <a:br>
              <a:rPr lang="en-US" dirty="0"/>
            </a:br>
            <a:r>
              <a:rPr lang="en-US" dirty="0"/>
              <a:t>The neuronal plasma membrane is a </a:t>
            </a:r>
            <a:r>
              <a:rPr lang="en-US" b="1" dirty="0"/>
              <a:t>phospholipid bilayer</a:t>
            </a:r>
            <a:r>
              <a:rPr lang="en-US" dirty="0"/>
              <a:t> that forms a semi‑permeable boundary. </a:t>
            </a:r>
            <a:r>
              <a:rPr lang="en-US" b="1" dirty="0"/>
              <a:t>Integral and peripheral proteins</a:t>
            </a:r>
            <a:r>
              <a:rPr lang="en-US" dirty="0"/>
              <a:t> are embedded or associated</a:t>
            </a:r>
          </a:p>
          <a:p>
            <a:r>
              <a:rPr lang="en-US" dirty="0"/>
              <a:t>with it, enabling selective interaction with the environment.</a:t>
            </a:r>
          </a:p>
          <a:p>
            <a:r>
              <a:rPr lang="en-US" b="1" dirty="0"/>
              <a:t>Self‑learning prompt: </a:t>
            </a:r>
            <a:r>
              <a:rPr lang="en-US" dirty="0"/>
              <a:t>Describe neuronal plasma membrane</a:t>
            </a:r>
          </a:p>
          <a:p>
            <a:r>
              <a:rPr lang="en-US" dirty="0"/>
              <a:t>as a biological structure in detail without electrical terms.</a:t>
            </a:r>
          </a:p>
          <a:p>
            <a:endParaRPr lang="en-US" dirty="0"/>
          </a:p>
          <a:p>
            <a:r>
              <a:rPr lang="en-US" b="1" dirty="0"/>
              <a:t>A5. Membrane Proteins - Channels, Pumps, Transporters, </a:t>
            </a:r>
          </a:p>
          <a:p>
            <a:r>
              <a:rPr lang="en-US" b="1" dirty="0"/>
              <a:t>Receptors – what are they?</a:t>
            </a:r>
            <a:endParaRPr lang="en-US" dirty="0"/>
          </a:p>
          <a:p>
            <a:pPr lvl="0"/>
            <a:r>
              <a:rPr lang="en-US" b="1" dirty="0"/>
              <a:t>Ion channels:</a:t>
            </a:r>
            <a:r>
              <a:rPr lang="en-US" dirty="0"/>
              <a:t> Protein pores selective for specific ions.</a:t>
            </a:r>
          </a:p>
          <a:p>
            <a:pPr lvl="0"/>
            <a:r>
              <a:rPr lang="en-US" b="1" dirty="0"/>
              <a:t>Pumps (ATPases):</a:t>
            </a:r>
            <a:r>
              <a:rPr lang="en-US" dirty="0"/>
              <a:t> Use ATP to move ions </a:t>
            </a:r>
            <a:r>
              <a:rPr lang="en-US" b="1" dirty="0"/>
              <a:t>against</a:t>
            </a:r>
            <a:r>
              <a:rPr lang="en-US" dirty="0"/>
              <a:t> gradients.</a:t>
            </a:r>
          </a:p>
          <a:p>
            <a:pPr lvl="0"/>
            <a:r>
              <a:rPr lang="en-US" b="1" dirty="0"/>
              <a:t>Transporters/Exchangers:</a:t>
            </a:r>
            <a:r>
              <a:rPr lang="en-US" dirty="0"/>
              <a:t> Use gradients (secondary active transport).</a:t>
            </a:r>
          </a:p>
          <a:p>
            <a:pPr lvl="0"/>
            <a:r>
              <a:rPr lang="en-US" b="1" dirty="0"/>
              <a:t>Receptors:</a:t>
            </a:r>
            <a:r>
              <a:rPr lang="en-US" dirty="0"/>
              <a:t> Bind ligands (e.g., neurotransmitters) to trigger cellular responses.</a:t>
            </a:r>
          </a:p>
          <a:p>
            <a:r>
              <a:rPr lang="en-US" b="1" dirty="0"/>
              <a:t>Self‑learning prompt: </a:t>
            </a:r>
            <a:r>
              <a:rPr lang="en-US" dirty="0"/>
              <a:t>List ion channels, pumps, transporters/exchangers, and receptors. For each, give a 1–2 sentence biological role and an example subtype (e.g., Na⁺/K⁺‑ATPase, glutamate transporter, ligand‑gated receptor). Avoid any circuit discussion.</a:t>
            </a:r>
            <a:br>
              <a:rPr lang="en-US" dirty="0"/>
            </a:br>
            <a:endParaRPr lang="en-US" dirty="0"/>
          </a:p>
          <a:p>
            <a:r>
              <a:rPr lang="en-US" b="1" dirty="0"/>
              <a:t>A6. Biologically Important Ions — Inside vs Outside</a:t>
            </a:r>
            <a:br>
              <a:rPr lang="en-US" dirty="0"/>
            </a:br>
            <a:r>
              <a:rPr lang="en-US" dirty="0"/>
              <a:t>Typical </a:t>
            </a:r>
            <a:r>
              <a:rPr lang="en-US" b="1" dirty="0"/>
              <a:t>asymmetries</a:t>
            </a:r>
            <a:r>
              <a:rPr lang="en-US" dirty="0"/>
              <a:t>: intracellular </a:t>
            </a:r>
            <a:r>
              <a:rPr lang="en-US" b="1" dirty="0"/>
              <a:t>K⁺</a:t>
            </a:r>
            <a:r>
              <a:rPr lang="en-US" dirty="0"/>
              <a:t> high; extracellular </a:t>
            </a:r>
            <a:r>
              <a:rPr lang="en-US" b="1" dirty="0"/>
              <a:t>Na⁺</a:t>
            </a:r>
            <a:r>
              <a:rPr lang="en-US" dirty="0"/>
              <a:t> and </a:t>
            </a:r>
            <a:r>
              <a:rPr lang="en-US" b="1" dirty="0"/>
              <a:t>Cl⁻</a:t>
            </a:r>
            <a:r>
              <a:rPr lang="en-US" dirty="0"/>
              <a:t> high; intracellular free </a:t>
            </a:r>
            <a:r>
              <a:rPr lang="en-US" b="1" dirty="0"/>
              <a:t>Ca²⁺</a:t>
            </a:r>
            <a:r>
              <a:rPr lang="en-US" dirty="0"/>
              <a:t> extremely low (nanomolar to low micromolar).</a:t>
            </a:r>
          </a:p>
          <a:p>
            <a:r>
              <a:rPr lang="en-US" b="1" dirty="0"/>
              <a:t>Self‑learning prompt: </a:t>
            </a:r>
            <a:r>
              <a:rPr lang="en-US" dirty="0"/>
              <a:t>Summarize where Na⁺, K⁺, Cl⁻, and Ca²⁺ are most abundant (inside vs outside). Explain, in biological terms, why cells maintain these distributions (homeostasis, signaling readiness), without referring to voltage.</a:t>
            </a:r>
          </a:p>
          <a:p>
            <a:endParaRPr lang="en-US" sz="1600" dirty="0"/>
          </a:p>
        </p:txBody>
      </p:sp>
      <p:pic>
        <p:nvPicPr>
          <p:cNvPr id="2" name="Picture 1">
            <a:extLst>
              <a:ext uri="{FF2B5EF4-FFF2-40B4-BE49-F238E27FC236}">
                <a16:creationId xmlns:a16="http://schemas.microsoft.com/office/drawing/2014/main" id="{31E250D9-2053-D63C-D54F-8C6AE358FB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60419" y="781768"/>
            <a:ext cx="4735990" cy="2503598"/>
          </a:xfrm>
          <a:prstGeom prst="rect">
            <a:avLst/>
          </a:prstGeom>
          <a:noFill/>
          <a:ln>
            <a:noFill/>
          </a:ln>
        </p:spPr>
      </p:pic>
    </p:spTree>
    <p:extLst>
      <p:ext uri="{BB962C8B-B14F-4D97-AF65-F5344CB8AC3E}">
        <p14:creationId xmlns:p14="http://schemas.microsoft.com/office/powerpoint/2010/main" val="1400458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A8688-9423-2AF9-2A39-B7F5DB70029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4B6703-BB87-CC93-C44D-A0EA8FBF70C6}"/>
              </a:ext>
            </a:extLst>
          </p:cNvPr>
          <p:cNvSpPr txBox="1"/>
          <p:nvPr/>
        </p:nvSpPr>
        <p:spPr>
          <a:xfrm>
            <a:off x="267037" y="256376"/>
            <a:ext cx="11450230" cy="6709529"/>
          </a:xfrm>
          <a:prstGeom prst="rect">
            <a:avLst/>
          </a:prstGeom>
          <a:noFill/>
        </p:spPr>
        <p:txBody>
          <a:bodyPr wrap="square" rtlCol="0">
            <a:spAutoFit/>
          </a:bodyPr>
          <a:lstStyle/>
          <a:p>
            <a:r>
              <a:rPr lang="en-US" b="1" dirty="0"/>
              <a:t>A7. Concentration Gradients — Homeostatic Property of Cells</a:t>
            </a:r>
            <a:endParaRPr lang="en-US" dirty="0"/>
          </a:p>
          <a:p>
            <a:r>
              <a:rPr lang="en-US" dirty="0"/>
              <a:t>Cells invest energy (directly or indirectly) to maintain </a:t>
            </a:r>
            <a:r>
              <a:rPr lang="en-US" b="1" dirty="0"/>
              <a:t>stable concentration gradients</a:t>
            </a:r>
            <a:r>
              <a:rPr lang="en-US" dirty="0"/>
              <a:t> that support metabolism, osmotic balance, signaling capacity, and protein function.</a:t>
            </a:r>
          </a:p>
          <a:p>
            <a:r>
              <a:rPr lang="en-US" b="1" dirty="0"/>
              <a:t>Self‑learning prompt: </a:t>
            </a:r>
            <a:r>
              <a:rPr lang="en-US" dirty="0"/>
              <a:t>Explain how pumps and transporters maintain ion gradients. Include ATP dependence for primary active transport and gradient‑driven secondary transport, using two concrete examples.</a:t>
            </a:r>
            <a:br>
              <a:rPr lang="en-US" dirty="0"/>
            </a:br>
            <a:endParaRPr lang="en-US" dirty="0"/>
          </a:p>
          <a:p>
            <a:r>
              <a:rPr lang="en-US" b="1" dirty="0"/>
              <a:t>A8. Ion Pumps &amp; Transporters — ATP‑Dependent Maintenance</a:t>
            </a:r>
            <a:br>
              <a:rPr lang="en-US" dirty="0"/>
            </a:br>
            <a:r>
              <a:rPr lang="en-US" dirty="0"/>
              <a:t>The </a:t>
            </a:r>
            <a:r>
              <a:rPr lang="en-US" b="1" dirty="0"/>
              <a:t>Na⁺/K⁺‑ATPase</a:t>
            </a:r>
            <a:r>
              <a:rPr lang="en-US" dirty="0"/>
              <a:t> exports </a:t>
            </a:r>
            <a:r>
              <a:rPr lang="en-US" b="1" dirty="0"/>
              <a:t>3 Na⁺</a:t>
            </a:r>
            <a:r>
              <a:rPr lang="en-US" dirty="0"/>
              <a:t> and imports </a:t>
            </a:r>
            <a:r>
              <a:rPr lang="en-US" b="1" dirty="0"/>
              <a:t>2 K⁺</a:t>
            </a:r>
            <a:r>
              <a:rPr lang="en-US" dirty="0"/>
              <a:t> per ATP, helping stabilize intracellular composition. Other transporters regulate </a:t>
            </a:r>
            <a:r>
              <a:rPr lang="en-US" b="1" dirty="0"/>
              <a:t>Ca²⁺</a:t>
            </a:r>
            <a:r>
              <a:rPr lang="en-US" dirty="0"/>
              <a:t> and </a:t>
            </a:r>
            <a:r>
              <a:rPr lang="en-US" b="1" dirty="0"/>
              <a:t>Cl⁻</a:t>
            </a:r>
            <a:r>
              <a:rPr lang="en-US" dirty="0"/>
              <a:t> to maintain cellular viability and signaling readiness.</a:t>
            </a:r>
          </a:p>
          <a:p>
            <a:r>
              <a:rPr lang="en-US" b="1" dirty="0"/>
              <a:t>Self‑learning prompt: </a:t>
            </a:r>
            <a:r>
              <a:rPr lang="en-US" dirty="0"/>
              <a:t>Describe the Na⁺/K⁺‑ATPase cycle in words. Then outline one Ca²⁺ handling mechanism (e.g., SERCA pump or NCX exchanger) and its biological purpose.</a:t>
            </a:r>
            <a:br>
              <a:rPr lang="en-US" dirty="0"/>
            </a:br>
            <a:endParaRPr lang="en-US" dirty="0"/>
          </a:p>
          <a:p>
            <a:r>
              <a:rPr lang="en-US" b="1" dirty="0"/>
              <a:t>A9. Ion Channels — Open vs Closed Conformations (Structure and Gating Cues)</a:t>
            </a:r>
            <a:endParaRPr lang="en-US" dirty="0"/>
          </a:p>
          <a:p>
            <a:r>
              <a:rPr lang="en-US" dirty="0"/>
              <a:t>Channels switch between </a:t>
            </a:r>
            <a:r>
              <a:rPr lang="en-US" b="1" dirty="0"/>
              <a:t>closed</a:t>
            </a:r>
            <a:r>
              <a:rPr lang="en-US" dirty="0"/>
              <a:t> and </a:t>
            </a:r>
            <a:r>
              <a:rPr lang="en-US" b="1" dirty="0"/>
              <a:t>open</a:t>
            </a:r>
            <a:r>
              <a:rPr lang="en-US" dirty="0"/>
              <a:t> states via </a:t>
            </a:r>
            <a:r>
              <a:rPr lang="en-US" b="1" dirty="0"/>
              <a:t>protein conformational changes</a:t>
            </a:r>
            <a:r>
              <a:rPr lang="en-US" dirty="0"/>
              <a:t>. Triggers can include ligand binding, stretch, intracellular signals, or membrane voltage (we postpone electrical roles until later).</a:t>
            </a:r>
          </a:p>
          <a:p>
            <a:r>
              <a:rPr lang="en-US" b="1" dirty="0"/>
              <a:t>Self‑learning prompt: </a:t>
            </a:r>
            <a:r>
              <a:rPr lang="en-US" dirty="0"/>
              <a:t>Describe the concept of channel gating as protein conformational change. Give one example each of a ligand‑gated, mechanically gated, and voltage‑sensitive channel—biological roles only.</a:t>
            </a:r>
            <a:br>
              <a:rPr lang="en-US" dirty="0"/>
            </a:br>
            <a:endParaRPr lang="en-US" dirty="0"/>
          </a:p>
          <a:p>
            <a:r>
              <a:rPr lang="en-US" b="1" dirty="0"/>
              <a:t>A10. Diffusion — Natural Molecular Motion</a:t>
            </a:r>
            <a:br>
              <a:rPr lang="en-US" dirty="0"/>
            </a:br>
            <a:r>
              <a:rPr lang="en-US" dirty="0"/>
              <a:t>Diffusion arises from random thermal motion. When a gradient exists, there is </a:t>
            </a:r>
            <a:r>
              <a:rPr lang="en-US" b="1" dirty="0"/>
              <a:t>net movement down the gradient</a:t>
            </a:r>
            <a:r>
              <a:rPr lang="en-US" dirty="0"/>
              <a:t> until balance is approached, modulated by permeability and barriers.</a:t>
            </a:r>
          </a:p>
          <a:p>
            <a:r>
              <a:rPr lang="en-US" b="1" dirty="0"/>
              <a:t>Self‑learning prompt: </a:t>
            </a:r>
            <a:r>
              <a:rPr lang="en-US" dirty="0"/>
              <a:t>In biological language, define diffusion and permeability. Explain how membrane composition and protein pores influence effective diffusion of ions or molecules.</a:t>
            </a:r>
          </a:p>
        </p:txBody>
      </p:sp>
    </p:spTree>
    <p:extLst>
      <p:ext uri="{BB962C8B-B14F-4D97-AF65-F5344CB8AC3E}">
        <p14:creationId xmlns:p14="http://schemas.microsoft.com/office/powerpoint/2010/main" val="3790124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10AE1-8409-A4D5-93CF-8A7CDE59CD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7DC6B9D-836D-8F10-44A9-6C6C9022E382}"/>
                  </a:ext>
                </a:extLst>
              </p:cNvPr>
              <p:cNvSpPr txBox="1"/>
              <p:nvPr/>
            </p:nvSpPr>
            <p:spPr>
              <a:xfrm>
                <a:off x="267037" y="256376"/>
                <a:ext cx="11450230" cy="5533887"/>
              </a:xfrm>
              <a:prstGeom prst="rect">
                <a:avLst/>
              </a:prstGeom>
              <a:noFill/>
            </p:spPr>
            <p:txBody>
              <a:bodyPr wrap="square" rtlCol="0">
                <a:spAutoFit/>
              </a:bodyPr>
              <a:lstStyle/>
              <a:p>
                <a:r>
                  <a:rPr lang="en-US" b="1" dirty="0"/>
                  <a:t>A11. The Nernst Equation —Equilibrium Concept</a:t>
                </a:r>
                <a:br>
                  <a:rPr lang="en-US" dirty="0"/>
                </a:br>
                <a:r>
                  <a:rPr lang="en-US" dirty="0"/>
                  <a:t>When a membrane is </a:t>
                </a:r>
                <a:r>
                  <a:rPr lang="en-US" b="1" dirty="0"/>
                  <a:t>selectively permeable</a:t>
                </a:r>
                <a:r>
                  <a:rPr lang="en-US" dirty="0"/>
                  <a:t> to one ion, the </a:t>
                </a:r>
                <a:r>
                  <a:rPr lang="en-US" b="1" dirty="0"/>
                  <a:t>Nernst </a:t>
                </a:r>
              </a:p>
              <a:p>
                <a:r>
                  <a:rPr lang="en-US" b="1" dirty="0"/>
                  <a:t>equation</a:t>
                </a:r>
                <a:r>
                  <a:rPr lang="en-US" dirty="0"/>
                  <a:t> gives the </a:t>
                </a:r>
                <a:r>
                  <a:rPr lang="en-US" b="1" dirty="0"/>
                  <a:t>equilibrium potential</a:t>
                </a:r>
                <a:r>
                  <a:rPr lang="en-US" dirty="0"/>
                  <a:t> at which that ion’s chemical</a:t>
                </a:r>
              </a:p>
              <a:p>
                <a:r>
                  <a:rPr lang="en-US" dirty="0"/>
                  <a:t>gradient is balanced by electrical forces.</a:t>
                </a:r>
                <a:br>
                  <a:rPr lang="en-US" dirty="0"/>
                </a:br>
                <a:r>
                  <a:rPr lang="en-US" b="1" dirty="0"/>
                  <a:t>Equation (for monovalent cations, base‑10 form):</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m:rPr>
                            <m:nor/>
                          </m:rPr>
                          <a:rPr lang="en-US"/>
                          <m:t>ion</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𝑅𝑇</m:t>
                        </m:r>
                      </m:num>
                      <m:den>
                        <m:r>
                          <a:rPr lang="en-US" i="1">
                            <a:latin typeface="Cambria Math" panose="02040503050406030204" pitchFamily="18" charset="0"/>
                          </a:rPr>
                          <m:t>𝑧𝐹</m:t>
                        </m:r>
                      </m:den>
                    </m:f>
                    <m:r>
                      <m:rPr>
                        <m:sty m:val="p"/>
                      </m:rPr>
                      <a:rPr lang="en-US">
                        <a:latin typeface="Cambria Math" panose="02040503050406030204" pitchFamily="18" charset="0"/>
                      </a:rPr>
                      <m:t>ln</m:t>
                    </m:r>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m:rPr>
                                    <m:nor/>
                                  </m:rPr>
                                  <a:rPr lang="en-US"/>
                                  <m:t>ion</m:t>
                                </m:r>
                                <m:sSub>
                                  <m:sSubPr>
                                    <m:ctrlPr>
                                      <a:rPr lang="en-US" i="1">
                                        <a:latin typeface="Cambria Math" panose="02040503050406030204" pitchFamily="18" charset="0"/>
                                      </a:rPr>
                                    </m:ctrlPr>
                                  </m:sSubPr>
                                  <m:e>
                                    <m:r>
                                      <a:rPr lang="en-US" i="1">
                                        <a:latin typeface="Cambria Math" panose="02040503050406030204" pitchFamily="18" charset="0"/>
                                      </a:rPr>
                                      <m:t>]</m:t>
                                    </m:r>
                                  </m:e>
                                  <m:sub>
                                    <m:r>
                                      <m:rPr>
                                        <m:nor/>
                                      </m:rPr>
                                      <a:rPr lang="en-US"/>
                                      <m:t>out</m:t>
                                    </m:r>
                                  </m:sub>
                                </m:sSub>
                              </m:e>
                            </m:d>
                          </m:num>
                          <m:den>
                            <m:d>
                              <m:dPr>
                                <m:begChr m:val="["/>
                                <m:endChr m:val=""/>
                                <m:ctrlPr>
                                  <a:rPr lang="en-US" i="1">
                                    <a:latin typeface="Cambria Math" panose="02040503050406030204" pitchFamily="18" charset="0"/>
                                  </a:rPr>
                                </m:ctrlPr>
                              </m:dPr>
                              <m:e>
                                <m:r>
                                  <m:rPr>
                                    <m:nor/>
                                  </m:rPr>
                                  <a:rPr lang="en-US"/>
                                  <m:t>ion</m:t>
                                </m:r>
                                <m:sSub>
                                  <m:sSubPr>
                                    <m:ctrlPr>
                                      <a:rPr lang="en-US" i="1">
                                        <a:latin typeface="Cambria Math" panose="02040503050406030204" pitchFamily="18" charset="0"/>
                                      </a:rPr>
                                    </m:ctrlPr>
                                  </m:sSubPr>
                                  <m:e>
                                    <m:r>
                                      <a:rPr lang="en-US" i="1">
                                        <a:latin typeface="Cambria Math" panose="02040503050406030204" pitchFamily="18" charset="0"/>
                                      </a:rPr>
                                      <m:t>]</m:t>
                                    </m:r>
                                  </m:e>
                                  <m:sub>
                                    <m:r>
                                      <m:rPr>
                                        <m:nor/>
                                      </m:rPr>
                                      <a:rPr lang="en-US"/>
                                      <m:t>in</m:t>
                                    </m:r>
                                  </m:sub>
                                </m:sSub>
                              </m:e>
                            </m:d>
                          </m:den>
                        </m:f>
                      </m:e>
                    </m:d>
                    <m:r>
                      <a:rPr lang="en-US" i="1">
                        <a:latin typeface="Cambria Math" panose="02040503050406030204" pitchFamily="18" charset="0"/>
                      </a:rPr>
                      <m:t>≈61.5</m:t>
                    </m:r>
                    <m:r>
                      <m:rPr>
                        <m:nor/>
                      </m:rPr>
                      <a:rPr lang="en-US"/>
                      <m:t> </m:t>
                    </m:r>
                    <m:r>
                      <m:rPr>
                        <m:nor/>
                      </m:rPr>
                      <a:rPr lang="en-US"/>
                      <m:t>mV</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𝑧</m:t>
                        </m:r>
                      </m:den>
                    </m:f>
                    <m:r>
                      <m:rPr>
                        <m:nor/>
                      </m:rPr>
                      <a:rPr lang="en-US"/>
                      <m:t> </m:t>
                    </m:r>
                    <m:sSub>
                      <m:sSubPr>
                        <m:ctrlPr>
                          <a:rPr lang="en-US" i="1">
                            <a:latin typeface="Cambria Math" panose="02040503050406030204" pitchFamily="18" charset="0"/>
                          </a:rPr>
                        </m:ctrlPr>
                      </m:sSubPr>
                      <m:e>
                        <m:r>
                          <m:rPr>
                            <m:sty m:val="p"/>
                          </m:rPr>
                          <a:rPr lang="en-US">
                            <a:latin typeface="Cambria Math" panose="02040503050406030204" pitchFamily="18" charset="0"/>
                          </a:rPr>
                          <m:t>log</m:t>
                        </m:r>
                        <m:r>
                          <a:rPr lang="en-US" i="1">
                            <a:latin typeface="Cambria Math" panose="02040503050406030204" pitchFamily="18" charset="0"/>
                          </a:rPr>
                          <m:t>⁡</m:t>
                        </m:r>
                      </m:e>
                      <m:sub>
                        <m:r>
                          <a:rPr lang="en-US" i="1">
                            <a:latin typeface="Cambria Math" panose="02040503050406030204" pitchFamily="18" charset="0"/>
                          </a:rPr>
                          <m:t>10</m:t>
                        </m:r>
                      </m:sub>
                    </m:sSub>
                    <m:d>
                      <m:dPr>
                        <m:ctrlPr>
                          <a:rPr lang="en-US" i="1">
                            <a:latin typeface="Cambria Math" panose="02040503050406030204" pitchFamily="18" charset="0"/>
                          </a:rPr>
                        </m:ctrlPr>
                      </m:dPr>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m:rPr>
                                    <m:nor/>
                                  </m:rPr>
                                  <a:rPr lang="en-US"/>
                                  <m:t>ion</m:t>
                                </m:r>
                                <m:sSub>
                                  <m:sSubPr>
                                    <m:ctrlPr>
                                      <a:rPr lang="en-US" i="1">
                                        <a:latin typeface="Cambria Math" panose="02040503050406030204" pitchFamily="18" charset="0"/>
                                      </a:rPr>
                                    </m:ctrlPr>
                                  </m:sSubPr>
                                  <m:e>
                                    <m:r>
                                      <a:rPr lang="en-US" i="1">
                                        <a:latin typeface="Cambria Math" panose="02040503050406030204" pitchFamily="18" charset="0"/>
                                      </a:rPr>
                                      <m:t>]</m:t>
                                    </m:r>
                                  </m:e>
                                  <m:sub>
                                    <m:r>
                                      <m:rPr>
                                        <m:nor/>
                                      </m:rPr>
                                      <a:rPr lang="en-US"/>
                                      <m:t>out</m:t>
                                    </m:r>
                                  </m:sub>
                                </m:sSub>
                              </m:e>
                            </m:d>
                          </m:num>
                          <m:den>
                            <m:d>
                              <m:dPr>
                                <m:begChr m:val="["/>
                                <m:endChr m:val=""/>
                                <m:ctrlPr>
                                  <a:rPr lang="en-US" i="1">
                                    <a:latin typeface="Cambria Math" panose="02040503050406030204" pitchFamily="18" charset="0"/>
                                  </a:rPr>
                                </m:ctrlPr>
                              </m:dPr>
                              <m:e>
                                <m:r>
                                  <m:rPr>
                                    <m:nor/>
                                  </m:rPr>
                                  <a:rPr lang="en-US"/>
                                  <m:t>ion</m:t>
                                </m:r>
                                <m:sSub>
                                  <m:sSubPr>
                                    <m:ctrlPr>
                                      <a:rPr lang="en-US" i="1">
                                        <a:latin typeface="Cambria Math" panose="02040503050406030204" pitchFamily="18" charset="0"/>
                                      </a:rPr>
                                    </m:ctrlPr>
                                  </m:sSubPr>
                                  <m:e>
                                    <m:r>
                                      <a:rPr lang="en-US" i="1">
                                        <a:latin typeface="Cambria Math" panose="02040503050406030204" pitchFamily="18" charset="0"/>
                                      </a:rPr>
                                      <m:t>]</m:t>
                                    </m:r>
                                  </m:e>
                                  <m:sub>
                                    <m:r>
                                      <m:rPr>
                                        <m:nor/>
                                      </m:rPr>
                                      <a:rPr lang="en-US"/>
                                      <m:t>in</m:t>
                                    </m:r>
                                  </m:sub>
                                </m:sSub>
                              </m:e>
                            </m:d>
                          </m:den>
                        </m:f>
                      </m:e>
                    </m:d>
                  </m:oMath>
                </a14:m>
                <a:r>
                  <a:rPr lang="en-US" dirty="0"/>
                  <a:t>at 37 °C.</a:t>
                </a:r>
                <a:br>
                  <a:rPr lang="en-US" dirty="0"/>
                </a:br>
                <a:r>
                  <a:rPr lang="en-US" dirty="0"/>
                  <a:t>Here, </a:t>
                </a:r>
                <a14:m>
                  <m:oMath xmlns:m="http://schemas.openxmlformats.org/officeDocument/2006/math">
                    <m:r>
                      <a:rPr lang="en-US" i="1">
                        <a:latin typeface="Cambria Math" panose="02040503050406030204" pitchFamily="18" charset="0"/>
                      </a:rPr>
                      <m:t>𝑅</m:t>
                    </m:r>
                  </m:oMath>
                </a14:m>
                <a:r>
                  <a:rPr lang="en-US" dirty="0"/>
                  <a:t>is the gas constant, </a:t>
                </a:r>
                <a14:m>
                  <m:oMath xmlns:m="http://schemas.openxmlformats.org/officeDocument/2006/math">
                    <m:r>
                      <a:rPr lang="en-US" i="1">
                        <a:latin typeface="Cambria Math" panose="02040503050406030204" pitchFamily="18" charset="0"/>
                      </a:rPr>
                      <m:t>𝑇</m:t>
                    </m:r>
                  </m:oMath>
                </a14:m>
                <a:r>
                  <a:rPr lang="en-US" dirty="0"/>
                  <a:t>absolute temperature, </a:t>
                </a:r>
                <a14:m>
                  <m:oMath xmlns:m="http://schemas.openxmlformats.org/officeDocument/2006/math">
                    <m:r>
                      <a:rPr lang="en-US" i="1">
                        <a:latin typeface="Cambria Math" panose="02040503050406030204" pitchFamily="18" charset="0"/>
                      </a:rPr>
                      <m:t>𝐹</m:t>
                    </m:r>
                    <m:r>
                      <a:rPr lang="en-US" b="0" i="1" smtClean="0">
                        <a:latin typeface="Cambria Math" panose="02040503050406030204" pitchFamily="18" charset="0"/>
                      </a:rPr>
                      <m:t> </m:t>
                    </m:r>
                  </m:oMath>
                </a14:m>
                <a:r>
                  <a:rPr lang="en-US" dirty="0"/>
                  <a:t>Faraday’s constant, </a:t>
                </a:r>
              </a:p>
              <a:p>
                <a:r>
                  <a:rPr lang="en-US" dirty="0"/>
                  <a:t>and </a:t>
                </a:r>
                <a14:m>
                  <m:oMath xmlns:m="http://schemas.openxmlformats.org/officeDocument/2006/math">
                    <m:r>
                      <a:rPr lang="en-US" i="1">
                        <a:latin typeface="Cambria Math" panose="02040503050406030204" pitchFamily="18" charset="0"/>
                      </a:rPr>
                      <m:t>𝑧</m:t>
                    </m:r>
                    <m:r>
                      <a:rPr lang="en-US" b="0" i="1" smtClean="0">
                        <a:latin typeface="Cambria Math" panose="02040503050406030204" pitchFamily="18" charset="0"/>
                      </a:rPr>
                      <m:t> </m:t>
                    </m:r>
                  </m:oMath>
                </a14:m>
                <a:r>
                  <a:rPr lang="en-US" dirty="0"/>
                  <a:t>the valence of the ion.</a:t>
                </a:r>
              </a:p>
              <a:p>
                <a:r>
                  <a:rPr lang="en-US" b="1" dirty="0"/>
                  <a:t>Self‑learning prompt: </a:t>
                </a:r>
                <a:r>
                  <a:rPr lang="en-US" dirty="0"/>
                  <a:t>Explain the Nernst equation in plain biological</a:t>
                </a:r>
              </a:p>
              <a:p>
                <a:r>
                  <a:rPr lang="en-US" dirty="0"/>
                  <a:t>language: what each symbol means, why temperature and valence matter, </a:t>
                </a:r>
              </a:p>
              <a:p>
                <a:r>
                  <a:rPr lang="en-US" dirty="0"/>
                  <a:t>and how changing inside/outside concentrations shifts the equilibrium </a:t>
                </a:r>
              </a:p>
              <a:p>
                <a:r>
                  <a:rPr lang="en-US" dirty="0"/>
                  <a:t>potential for K⁺ vs Na⁺. Provide a short example calculation.</a:t>
                </a:r>
              </a:p>
              <a:p>
                <a:endParaRPr lang="en-US" dirty="0"/>
              </a:p>
              <a:p>
                <a:r>
                  <a:rPr lang="en-US" b="1" dirty="0"/>
                  <a:t>A12. Biological Summary — ‘Opening Selective Pathways Has Consequences’</a:t>
                </a:r>
                <a:endParaRPr lang="en-US" dirty="0"/>
              </a:p>
              <a:p>
                <a:r>
                  <a:rPr lang="en-US" dirty="0"/>
                  <a:t>A neuron is a cell with </a:t>
                </a:r>
                <a:r>
                  <a:rPr lang="en-US" b="1" dirty="0"/>
                  <a:t>unequal ion distributions</a:t>
                </a:r>
                <a:r>
                  <a:rPr lang="en-US" dirty="0"/>
                  <a:t> and </a:t>
                </a:r>
                <a:r>
                  <a:rPr lang="en-US" b="1" dirty="0"/>
                  <a:t>selective membrane proteins</a:t>
                </a:r>
                <a:r>
                  <a:rPr lang="en-US" dirty="0"/>
                  <a:t>. When selective pathways open, predictable </a:t>
                </a:r>
                <a:r>
                  <a:rPr lang="en-US" b="1" dirty="0"/>
                  <a:t>equilibrium tendencies</a:t>
                </a:r>
                <a:r>
                  <a:rPr lang="en-US" dirty="0"/>
                  <a:t> (e.g., via Nernst) shape what happens next.</a:t>
                </a:r>
              </a:p>
              <a:p>
                <a:r>
                  <a:rPr lang="en-US" b="1" dirty="0"/>
                  <a:t>Self‑learning prompt: </a:t>
                </a:r>
                <a:r>
                  <a:rPr lang="en-US" dirty="0"/>
                  <a:t>Summarize how membrane structure, proteins, and ion gradients set up the stage for later electrical behaviors without using circuit analogies. End with two questions you’re curious about for Sets B and C.</a:t>
                </a:r>
              </a:p>
            </p:txBody>
          </p:sp>
        </mc:Choice>
        <mc:Fallback xmlns="">
          <p:sp>
            <p:nvSpPr>
              <p:cNvPr id="4" name="TextBox 3">
                <a:extLst>
                  <a:ext uri="{FF2B5EF4-FFF2-40B4-BE49-F238E27FC236}">
                    <a16:creationId xmlns:a16="http://schemas.microsoft.com/office/drawing/2014/main" id="{57DC6B9D-836D-8F10-44A9-6C6C9022E382}"/>
                  </a:ext>
                </a:extLst>
              </p:cNvPr>
              <p:cNvSpPr txBox="1">
                <a:spLocks noRot="1" noChangeAspect="1" noMove="1" noResize="1" noEditPoints="1" noAdjustHandles="1" noChangeArrowheads="1" noChangeShapeType="1" noTextEdit="1"/>
              </p:cNvSpPr>
              <p:nvPr/>
            </p:nvSpPr>
            <p:spPr>
              <a:xfrm>
                <a:off x="267037" y="256376"/>
                <a:ext cx="11450230" cy="5533887"/>
              </a:xfrm>
              <a:prstGeom prst="rect">
                <a:avLst/>
              </a:prstGeom>
              <a:blipFill>
                <a:blip r:embed="rId2"/>
                <a:stretch>
                  <a:fillRect l="-479" t="-441" b="-881"/>
                </a:stretch>
              </a:blipFill>
            </p:spPr>
            <p:txBody>
              <a:bodyPr/>
              <a:lstStyle/>
              <a:p>
                <a:r>
                  <a:rPr lang="en-US">
                    <a:noFill/>
                  </a:rPr>
                  <a:t> </a:t>
                </a:r>
              </a:p>
            </p:txBody>
          </p:sp>
        </mc:Fallback>
      </mc:AlternateContent>
      <p:pic>
        <p:nvPicPr>
          <p:cNvPr id="5" name="Picture 4" descr="undefined">
            <a:extLst>
              <a:ext uri="{FF2B5EF4-FFF2-40B4-BE49-F238E27FC236}">
                <a16:creationId xmlns:a16="http://schemas.microsoft.com/office/drawing/2014/main" id="{49F9AB5A-D88F-A14A-009D-FDEDD41823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07170" y="89014"/>
            <a:ext cx="3250135" cy="3722336"/>
          </a:xfrm>
          <a:prstGeom prst="rect">
            <a:avLst/>
          </a:prstGeom>
          <a:noFill/>
          <a:ln>
            <a:noFill/>
          </a:ln>
        </p:spPr>
      </p:pic>
    </p:spTree>
    <p:extLst>
      <p:ext uri="{BB962C8B-B14F-4D97-AF65-F5344CB8AC3E}">
        <p14:creationId xmlns:p14="http://schemas.microsoft.com/office/powerpoint/2010/main" val="3466701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TotalTime>
  <Words>1475</Words>
  <Application>Microsoft Office PowerPoint</Application>
  <PresentationFormat>Widescreen</PresentationFormat>
  <Paragraphs>64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Nair, Satish</dc:creator>
  <cp:lastModifiedBy>Nair, Satish</cp:lastModifiedBy>
  <cp:revision>1</cp:revision>
  <dcterms:created xsi:type="dcterms:W3CDTF">2026-03-09T03:33:19Z</dcterms:created>
  <dcterms:modified xsi:type="dcterms:W3CDTF">2026-03-23T18:11:52Z</dcterms:modified>
</cp:coreProperties>
</file>