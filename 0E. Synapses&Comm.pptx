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sldIdLst>
    <p:sldId id="264" r:id="rId2"/>
    <p:sldId id="256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F760C2-3403-4A39-888D-D121F39DCDF2}" v="15" dt="2026-03-23T00:35:18.500"/>
    <p1510:client id="{B812E628-5771-464C-98DC-5B7BA1481D80}" v="4" dt="2026-03-23T06:01:40.6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12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ir, Satish" userId="af50c098-07d3-4545-ad93-15c24b849386" providerId="ADAL" clId="{B575728E-D61F-49E0-BC8E-8DC5242C7AE2}"/>
    <pc:docChg chg="undo redo custSel addSld delSld modSld sldOrd">
      <pc:chgData name="Nair, Satish" userId="af50c098-07d3-4545-ad93-15c24b849386" providerId="ADAL" clId="{B575728E-D61F-49E0-BC8E-8DC5242C7AE2}" dt="2026-03-23T06:01:40.691" v="1215" actId="2711"/>
      <pc:docMkLst>
        <pc:docMk/>
      </pc:docMkLst>
      <pc:sldChg chg="addSp delSp modSp new mod">
        <pc:chgData name="Nair, Satish" userId="af50c098-07d3-4545-ad93-15c24b849386" providerId="ADAL" clId="{B575728E-D61F-49E0-BC8E-8DC5242C7AE2}" dt="2026-03-23T05:21:06.188" v="1185" actId="20577"/>
        <pc:sldMkLst>
          <pc:docMk/>
          <pc:sldMk cId="1764206999" sldId="256"/>
        </pc:sldMkLst>
        <pc:spChg chg="add mod">
          <ac:chgData name="Nair, Satish" userId="af50c098-07d3-4545-ad93-15c24b849386" providerId="ADAL" clId="{B575728E-D61F-49E0-BC8E-8DC5242C7AE2}" dt="2026-03-23T05:21:06.188" v="1185" actId="20577"/>
          <ac:spMkLst>
            <pc:docMk/>
            <pc:sldMk cId="1764206999" sldId="256"/>
            <ac:spMk id="4" creationId="{D0B1748E-1251-FBC2-DAD5-783A4BA8FD4D}"/>
          </ac:spMkLst>
        </pc:spChg>
        <pc:picChg chg="add mod">
          <ac:chgData name="Nair, Satish" userId="af50c098-07d3-4545-ad93-15c24b849386" providerId="ADAL" clId="{B575728E-D61F-49E0-BC8E-8DC5242C7AE2}" dt="2026-03-09T05:15:23.174" v="987" actId="14100"/>
          <ac:picMkLst>
            <pc:docMk/>
            <pc:sldMk cId="1764206999" sldId="256"/>
            <ac:picMk id="3" creationId="{DFB715A5-5ED3-6BA1-F7AE-DCEE115CC295}"/>
          </ac:picMkLst>
        </pc:picChg>
        <pc:picChg chg="add mod">
          <ac:chgData name="Nair, Satish" userId="af50c098-07d3-4545-ad93-15c24b849386" providerId="ADAL" clId="{B575728E-D61F-49E0-BC8E-8DC5242C7AE2}" dt="2026-03-09T05:17:53.545" v="991" actId="1076"/>
          <ac:picMkLst>
            <pc:docMk/>
            <pc:sldMk cId="1764206999" sldId="256"/>
            <ac:picMk id="6" creationId="{626D5BD8-F224-ED0A-68DC-3E4635CB5FC3}"/>
          </ac:picMkLst>
        </pc:picChg>
      </pc:sldChg>
      <pc:sldChg chg="addSp delSp modSp add mod">
        <pc:chgData name="Nair, Satish" userId="af50c098-07d3-4545-ad93-15c24b849386" providerId="ADAL" clId="{B575728E-D61F-49E0-BC8E-8DC5242C7AE2}" dt="2026-03-21T15:26:48.300" v="1117" actId="1076"/>
        <pc:sldMkLst>
          <pc:docMk/>
          <pc:sldMk cId="4012667350" sldId="260"/>
        </pc:sldMkLst>
        <pc:spChg chg="mod">
          <ac:chgData name="Nair, Satish" userId="af50c098-07d3-4545-ad93-15c24b849386" providerId="ADAL" clId="{B575728E-D61F-49E0-BC8E-8DC5242C7AE2}" dt="2026-03-09T05:44:09.564" v="1067" actId="1076"/>
          <ac:spMkLst>
            <pc:docMk/>
            <pc:sldMk cId="4012667350" sldId="260"/>
            <ac:spMk id="4" creationId="{5D076A1F-4422-5497-47F1-3DC86BF2915D}"/>
          </ac:spMkLst>
        </pc:spChg>
        <pc:picChg chg="add mod">
          <ac:chgData name="Nair, Satish" userId="af50c098-07d3-4545-ad93-15c24b849386" providerId="ADAL" clId="{B575728E-D61F-49E0-BC8E-8DC5242C7AE2}" dt="2026-03-09T05:44:19.450" v="1069" actId="1076"/>
          <ac:picMkLst>
            <pc:docMk/>
            <pc:sldMk cId="4012667350" sldId="260"/>
            <ac:picMk id="3" creationId="{D067717B-1F81-D52A-427A-5B891C2C694D}"/>
          </ac:picMkLst>
        </pc:picChg>
        <pc:picChg chg="add mod">
          <ac:chgData name="Nair, Satish" userId="af50c098-07d3-4545-ad93-15c24b849386" providerId="ADAL" clId="{B575728E-D61F-49E0-BC8E-8DC5242C7AE2}" dt="2026-03-09T05:43:42.976" v="1057" actId="1076"/>
          <ac:picMkLst>
            <pc:docMk/>
            <pc:sldMk cId="4012667350" sldId="260"/>
            <ac:picMk id="5" creationId="{FD1AC796-D4CD-200A-8E5B-F8E32F9A168F}"/>
          </ac:picMkLst>
        </pc:picChg>
        <pc:picChg chg="add mod modCrop">
          <ac:chgData name="Nair, Satish" userId="af50c098-07d3-4545-ad93-15c24b849386" providerId="ADAL" clId="{B575728E-D61F-49E0-BC8E-8DC5242C7AE2}" dt="2026-03-21T15:26:48.300" v="1117" actId="1076"/>
          <ac:picMkLst>
            <pc:docMk/>
            <pc:sldMk cId="4012667350" sldId="260"/>
            <ac:picMk id="7" creationId="{8C0E08D3-26FF-216E-D624-0BEBA288DBE3}"/>
          </ac:picMkLst>
        </pc:picChg>
      </pc:sldChg>
      <pc:sldChg chg="modSp add mod">
        <pc:chgData name="Nair, Satish" userId="af50c098-07d3-4545-ad93-15c24b849386" providerId="ADAL" clId="{B575728E-D61F-49E0-BC8E-8DC5242C7AE2}" dt="2026-03-09T05:01:08.826" v="901" actId="20577"/>
        <pc:sldMkLst>
          <pc:docMk/>
          <pc:sldMk cId="2039376043" sldId="261"/>
        </pc:sldMkLst>
        <pc:spChg chg="mod">
          <ac:chgData name="Nair, Satish" userId="af50c098-07d3-4545-ad93-15c24b849386" providerId="ADAL" clId="{B575728E-D61F-49E0-BC8E-8DC5242C7AE2}" dt="2026-03-09T05:01:08.826" v="901" actId="20577"/>
          <ac:spMkLst>
            <pc:docMk/>
            <pc:sldMk cId="2039376043" sldId="261"/>
            <ac:spMk id="4" creationId="{7C8A91C0-E6C9-7CEF-787D-B020B3536961}"/>
          </ac:spMkLst>
        </pc:spChg>
      </pc:sldChg>
      <pc:sldChg chg="modSp add mod">
        <pc:chgData name="Nair, Satish" userId="af50c098-07d3-4545-ad93-15c24b849386" providerId="ADAL" clId="{B575728E-D61F-49E0-BC8E-8DC5242C7AE2}" dt="2026-03-09T05:01:49.048" v="907" actId="20577"/>
        <pc:sldMkLst>
          <pc:docMk/>
          <pc:sldMk cId="3608301042" sldId="262"/>
        </pc:sldMkLst>
        <pc:spChg chg="mod">
          <ac:chgData name="Nair, Satish" userId="af50c098-07d3-4545-ad93-15c24b849386" providerId="ADAL" clId="{B575728E-D61F-49E0-BC8E-8DC5242C7AE2}" dt="2026-03-09T05:01:49.048" v="907" actId="20577"/>
          <ac:spMkLst>
            <pc:docMk/>
            <pc:sldMk cId="3608301042" sldId="262"/>
            <ac:spMk id="4" creationId="{1CA8049C-9B91-875D-9B6F-69795535BEEC}"/>
          </ac:spMkLst>
        </pc:spChg>
      </pc:sldChg>
      <pc:sldChg chg="addSp modSp add mod">
        <pc:chgData name="Nair, Satish" userId="af50c098-07d3-4545-ad93-15c24b849386" providerId="ADAL" clId="{B575728E-D61F-49E0-BC8E-8DC5242C7AE2}" dt="2026-03-09T05:15:12.758" v="984" actId="1076"/>
        <pc:sldMkLst>
          <pc:docMk/>
          <pc:sldMk cId="3606108365" sldId="263"/>
        </pc:sldMkLst>
        <pc:spChg chg="mod">
          <ac:chgData name="Nair, Satish" userId="af50c098-07d3-4545-ad93-15c24b849386" providerId="ADAL" clId="{B575728E-D61F-49E0-BC8E-8DC5242C7AE2}" dt="2026-03-09T05:15:06.911" v="982" actId="20577"/>
          <ac:spMkLst>
            <pc:docMk/>
            <pc:sldMk cId="3606108365" sldId="263"/>
            <ac:spMk id="4" creationId="{171F3812-E005-4ED4-44C4-E53D201CB775}"/>
          </ac:spMkLst>
        </pc:spChg>
        <pc:picChg chg="add mod">
          <ac:chgData name="Nair, Satish" userId="af50c098-07d3-4545-ad93-15c24b849386" providerId="ADAL" clId="{B575728E-D61F-49E0-BC8E-8DC5242C7AE2}" dt="2026-03-09T05:15:12.758" v="984" actId="1076"/>
          <ac:picMkLst>
            <pc:docMk/>
            <pc:sldMk cId="3606108365" sldId="263"/>
            <ac:picMk id="2" creationId="{F882F37D-CFBA-62CF-A775-5B889989361A}"/>
          </ac:picMkLst>
        </pc:picChg>
      </pc:sldChg>
      <pc:sldChg chg="modSp add mod ord">
        <pc:chgData name="Nair, Satish" userId="af50c098-07d3-4545-ad93-15c24b849386" providerId="ADAL" clId="{B575728E-D61F-49E0-BC8E-8DC5242C7AE2}" dt="2026-03-23T06:01:40.691" v="1215" actId="2711"/>
        <pc:sldMkLst>
          <pc:docMk/>
          <pc:sldMk cId="2936881161" sldId="264"/>
        </pc:sldMkLst>
        <pc:spChg chg="mod">
          <ac:chgData name="Nair, Satish" userId="af50c098-07d3-4545-ad93-15c24b849386" providerId="ADAL" clId="{B575728E-D61F-49E0-BC8E-8DC5242C7AE2}" dt="2026-03-23T06:01:40.691" v="1215" actId="2711"/>
          <ac:spMkLst>
            <pc:docMk/>
            <pc:sldMk cId="2936881161" sldId="264"/>
            <ac:spMk id="3" creationId="{6D650F9E-E20D-0E94-09E5-7C45C205E7A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B55C27-59AB-4A4B-A7BD-DF84115AA115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767DA3-17AF-4FF0-BC33-DFEA0A33F7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963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1BC25-E4D0-7EDF-CE1F-4B8DDCCAA5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C556AE-079E-25B5-E6D4-7EFE93828F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DAE12-89D4-2C01-C85B-2FB931553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2E331-1F60-4B25-A11C-10138B5B2260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2D36B-E89B-2B2A-EA81-C2D8FE9F2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2B647-D4F0-0CBD-9FCD-6AA17D91A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F24B-AFC1-4E9A-A5EA-281CA027E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132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2202F-860B-2A8C-6828-662DBF97C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6339E-6F0F-2AFC-EE0C-F6945D5B7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EFB29-270D-657A-3555-232011A65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EACDA-C910-40E2-81AC-1D8ECF441A6A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7D7C0-8285-63EA-E0F9-F6A4B2A8C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E4DBF-836E-9006-E9B8-37C5FA7AE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F24B-AFC1-4E9A-A5EA-281CA027E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446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32449-E5D4-C801-9520-E077C448F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612A8A-B4A1-B128-9813-263FF5942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A2B91-43EB-F8DE-3EAC-18E03AC5E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CFFD9-0E6F-4E25-89C9-7C2AE877EF9A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1FD23-0821-B07E-2D22-4AF75E0C0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FD298-7808-47BB-C70F-8D15CC58F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F24B-AFC1-4E9A-A5EA-281CA027E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31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49BF0-EFDF-C2E4-E77E-9E53B8C72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C2189-51E1-5DDD-EBF5-1D719F4255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122BAC-B11B-0870-41B2-659CE9A3EA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0896F-6B39-A7B1-CF35-02285AB3A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1FCD6-4F46-4B11-B2B8-03105DDC408F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74AFDF-3661-3D13-1ADC-A764383B3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F5C7-8CD9-714A-1AA6-1DD93109D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F24B-AFC1-4E9A-A5EA-281CA027E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401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75D81-C967-CC36-DA82-AFDA30DC6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EDA566-44E7-1A79-2A4C-C723C5C1C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FDAB48-485E-6D7E-5F3A-D1B7668A0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46E116-9EFE-8AF6-6A80-00CC1172E3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236710-6A60-9C82-8C03-7BBFE01CB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254922-460A-6337-DE69-954D3F61D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3512D-B46A-4775-A79B-9CB3796DAC87}" type="datetime1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28447E-CC2F-BCA7-ED21-0B63289EB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6FCA31-7DC7-B80C-8196-CCB2CF491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F24B-AFC1-4E9A-A5EA-281CA027E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52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AB1B0-D5A6-A083-E837-E343ECC41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132E81-651C-A081-C36A-2C102D216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1B376-FF89-44E6-BB6A-DFFA3EEE8233}" type="datetime1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53045E-365F-2897-8F60-C6B974364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BD3BB0-96C4-B03D-F658-6D7D42CA5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F24B-AFC1-4E9A-A5EA-281CA027E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45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6E5BB2-789D-A963-4374-BD1B26C5D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42B4B-B097-4E56-8E67-ECE7877DDFD2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F2CAC2-E085-78CE-7BE5-446BBBBA1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B80DC7-119B-88A3-3125-832447629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F24B-AFC1-4E9A-A5EA-281CA027E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457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E6FD8-043D-1271-4FD8-B1CC2D1D6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99759-6CC6-2C30-BBEB-83CBAFDFF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EE585A-4571-F1F0-0499-463A980C51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4DA0A2-94D4-C7CC-9F5B-C36F4FCA1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FB5B8-495E-4487-BEB6-22DF53BB73D7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58BA8-F8B8-83F6-1301-234DB02E7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0E65DE-7BFA-DA62-9B84-8E03D965E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F24B-AFC1-4E9A-A5EA-281CA027E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513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5AAAD-1FCE-F895-EDB7-8E1238A0C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9F2322-C6E1-E87D-6BDC-D6DADC386A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02B28A-F013-0E17-E011-CF725AF646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9EC82A-8E7D-0DE8-B45F-253D93F29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59C98-76D9-4F50-83BD-6DCDA92B81F3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D65E2-C35A-72A7-05F7-F621C2B21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419BAF-C86F-A3EE-B32E-8E5B045E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F24B-AFC1-4E9A-A5EA-281CA027E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334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5407E-A242-1C2E-7DD7-C767D9440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A46C6D-C9C6-4563-9F83-E06DF7D784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1774B-8B86-278A-7EF8-B4157B05C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1C082-2D2E-4369-BBF2-1286676ECEE2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F2AAB-D0B7-DB24-5F3F-5DDA932F4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B039D-7797-567B-51AE-A783FB654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F24B-AFC1-4E9A-A5EA-281CA027E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60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02D9F8-9453-27F4-4665-3C6C06F094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8DE82A-43C4-24B7-90BD-0BE9C2872C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4BCC4-F4E7-7368-2BE5-563E46805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982C9-26E1-4D8F-BFAA-70496DC547E8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4B331-FF8D-F00B-EC01-08E191BC7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1F4EB-8993-02EE-E725-E439A6103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CF24B-AFC1-4E9A-A5EA-281CA027E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778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389E9D-406E-AED0-62E1-1D3E976FA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C5FCEC-69C0-040D-78F3-D9F581A54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8F6A3-D9C5-1FFB-3440-535EC453C7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66460D-E355-4FA1-88B8-DB5E71A87C70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38BA6-5EC0-D741-9EBC-77C5601AEC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3ED57-03D5-A76D-A2B4-C89354A474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2CF24B-AFC1-4E9A-A5EA-281CA027E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556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colab.research.google.com/github/cyneuro/Chapter_Colabs/blob/main/Colab_B.ipynb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D650F9E-E20D-0E94-09E5-7C45C205E7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9993" y="138383"/>
                <a:ext cx="10552014" cy="62428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7145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7145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7145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7145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7145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7145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7145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7145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171450" algn="l"/>
                  </a:tabLs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R="0" lvl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>
                    <a:tab pos="171450" algn="l"/>
                  </a:tabLst>
                </a:pPr>
                <a:r>
                  <a:rPr kumimoji="0" lang="en-US" altLang="en-US" sz="2000" b="1" i="0" u="none" strike="noStrike" cap="none" normalizeH="0" baseline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latin typeface="+mn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E. SYNAPSES &amp; TRANSMISSION</a:t>
                </a:r>
              </a:p>
              <a:p>
                <a:pPr marL="342900" marR="0" lvl="0" indent="-34290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AutoNum type="alphaUcPeriod"/>
                  <a:tabLst>
                    <a:tab pos="171450" algn="l"/>
                  </a:tabLst>
                </a:pPr>
                <a:endParaRPr kumimoji="0" lang="en-US" altLang="en-US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700" dirty="0">
                    <a:latin typeface="+mn-lt"/>
                  </a:rPr>
                  <a:t>S</a:t>
                </a:r>
                <a:r>
                  <a:rPr lang="en-US" sz="1700" i="1" dirty="0">
                    <a:latin typeface="+mn-lt"/>
                  </a:rPr>
                  <a:t>ynaptic transmission and state‑dependent efficacy</a:t>
                </a:r>
                <a:r>
                  <a:rPr lang="en-US" sz="1700" dirty="0">
                    <a:latin typeface="+mn-lt"/>
                  </a:rPr>
                  <a:t>. Chemical synapses are modeled as conductances with fixed reversal potentials that open transiently in response to presynaptic activity. Because current through a synapse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+mn-lt"/>
                          </a:rPr>
                        </m:ctrlPr>
                      </m:sSubPr>
                      <m:e>
                        <m:r>
                          <a:rPr lang="en-US" sz="1700" i="1">
                            <a:latin typeface="+mn-lt"/>
                          </a:rPr>
                          <m:t>𝐼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700">
                            <a:latin typeface="+mn-lt"/>
                          </a:rPr>
                          <m:t>syn</m:t>
                        </m:r>
                      </m:sub>
                    </m:sSub>
                    <m:r>
                      <a:rPr lang="en-US" sz="1700" i="1">
                        <a:latin typeface="+mn-lt"/>
                      </a:rPr>
                      <m:t>=</m:t>
                    </m:r>
                    <m:sSub>
                      <m:sSubPr>
                        <m:ctrlPr>
                          <a:rPr lang="en-US" sz="1700" i="1">
                            <a:latin typeface="+mn-lt"/>
                          </a:rPr>
                        </m:ctrlPr>
                      </m:sSubPr>
                      <m:e>
                        <m:r>
                          <a:rPr lang="en-US" sz="1700" i="1">
                            <a:latin typeface="+mn-lt"/>
                          </a:rPr>
                          <m:t>𝑔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700">
                            <a:latin typeface="+mn-lt"/>
                          </a:rPr>
                          <m:t>syn</m:t>
                        </m:r>
                      </m:sub>
                    </m:sSub>
                    <m:r>
                      <a:rPr lang="en-US" sz="1700" i="1">
                        <a:latin typeface="+mn-lt"/>
                      </a:rPr>
                      <m:t>(</m:t>
                    </m:r>
                    <m:sSub>
                      <m:sSubPr>
                        <m:ctrlPr>
                          <a:rPr lang="en-US" sz="1700" i="1">
                            <a:latin typeface="+mn-lt"/>
                          </a:rPr>
                        </m:ctrlPr>
                      </m:sSubPr>
                      <m:e>
                        <m:r>
                          <a:rPr lang="en-US" sz="1700" i="1">
                            <a:latin typeface="+mn-lt"/>
                          </a:rPr>
                          <m:t>𝑉</m:t>
                        </m:r>
                      </m:e>
                      <m:sub>
                        <m:r>
                          <a:rPr lang="en-US" sz="1700" i="1">
                            <a:latin typeface="+mn-lt"/>
                          </a:rPr>
                          <m:t>𝑚</m:t>
                        </m:r>
                      </m:sub>
                    </m:sSub>
                    <m:r>
                      <a:rPr lang="en-US" sz="1700" i="1">
                        <a:latin typeface="+mn-lt"/>
                      </a:rPr>
                      <m:t>−</m:t>
                    </m:r>
                    <m:sSub>
                      <m:sSubPr>
                        <m:ctrlPr>
                          <a:rPr lang="en-US" sz="1700" i="1">
                            <a:latin typeface="+mn-lt"/>
                          </a:rPr>
                        </m:ctrlPr>
                      </m:sSubPr>
                      <m:e>
                        <m:r>
                          <a:rPr lang="en-US" sz="1700" i="1">
                            <a:latin typeface="+mn-lt"/>
                          </a:rPr>
                          <m:t>𝐸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700">
                            <a:latin typeface="+mn-lt"/>
                          </a:rPr>
                          <m:t>rev</m:t>
                        </m:r>
                      </m:sub>
                    </m:sSub>
                    <m:r>
                      <a:rPr lang="en-US" sz="1700" i="1">
                        <a:latin typeface="+mn-lt"/>
                      </a:rPr>
                      <m:t>)</m:t>
                    </m:r>
                  </m:oMath>
                </a14:m>
                <a:r>
                  <a:rPr lang="en-US" sz="1700" dirty="0">
                    <a:latin typeface="+mn-lt"/>
                  </a:rPr>
                  <a:t>, efficacy is state‑dependent: the same conductance can depolarize or hyperpolarize depending on membrane potential and the distance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+mn-lt"/>
                          </a:rPr>
                        </m:ctrlPr>
                      </m:sSubPr>
                      <m:e>
                        <m:r>
                          <a:rPr lang="en-US" sz="1700" i="1">
                            <a:latin typeface="+mn-lt"/>
                          </a:rPr>
                          <m:t>𝐸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700">
                            <a:latin typeface="+mn-lt"/>
                          </a:rPr>
                          <m:t>rev</m:t>
                        </m:r>
                      </m:sub>
                    </m:sSub>
                  </m:oMath>
                </a14:m>
                <a:r>
                  <a:rPr lang="en-US" sz="1700" dirty="0">
                    <a:latin typeface="+mn-lt"/>
                  </a:rPr>
                  <a:t>. In practice, an AMPA‑like excitatory synapse is represented with millisecond‑scale rise–decay and a reversal near 0 mV, whereas a GABA</a:t>
                </a:r>
                <a:r>
                  <a:rPr lang="en-US" sz="1700" baseline="-25000" dirty="0">
                    <a:latin typeface="+mn-lt"/>
                  </a:rPr>
                  <a:t>A</a:t>
                </a:r>
                <a:r>
                  <a:rPr lang="en-US" sz="1700" dirty="0">
                    <a:latin typeface="+mn-lt"/>
                  </a:rPr>
                  <a:t>‑like inhibitory synapse has slower kinetics (few tens of </a:t>
                </a:r>
                <a:r>
                  <a:rPr lang="en-US" sz="1700" dirty="0" err="1">
                    <a:latin typeface="+mn-lt"/>
                  </a:rPr>
                  <a:t>ms</a:t>
                </a:r>
                <a:r>
                  <a:rPr lang="en-US" sz="1700" dirty="0">
                    <a:latin typeface="+mn-lt"/>
                  </a:rPr>
                  <a:t>) and a reversal near the chloride equilibrium potential (often around −75 mV). These choices allow learners to predict the sign, amplitude, and timing of postsynaptic potentials by inspection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+mn-lt"/>
                          </a:rPr>
                        </m:ctrlPr>
                      </m:sSubPr>
                      <m:e>
                        <m:r>
                          <a:rPr lang="en-US" sz="1700" i="1">
                            <a:latin typeface="+mn-lt"/>
                          </a:rPr>
                          <m:t>𝑉</m:t>
                        </m:r>
                      </m:e>
                      <m:sub>
                        <m:r>
                          <a:rPr lang="en-US" sz="1700" i="1">
                            <a:latin typeface="+mn-lt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1700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+mn-lt"/>
                          </a:rPr>
                        </m:ctrlPr>
                      </m:sSubPr>
                      <m:e>
                        <m:r>
                          <a:rPr lang="en-US" sz="1700" i="1">
                            <a:latin typeface="+mn-lt"/>
                          </a:rPr>
                          <m:t>𝑔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700">
                            <a:latin typeface="+mn-lt"/>
                          </a:rPr>
                          <m:t>syn</m:t>
                        </m:r>
                      </m:sub>
                    </m:sSub>
                    <m:r>
                      <a:rPr lang="en-US" sz="1700" i="1">
                        <a:latin typeface="+mn-lt"/>
                      </a:rPr>
                      <m:t>(</m:t>
                    </m:r>
                    <m:r>
                      <a:rPr lang="en-US" sz="1700" i="1">
                        <a:latin typeface="+mn-lt"/>
                      </a:rPr>
                      <m:t>𝑡</m:t>
                    </m:r>
                    <m:r>
                      <a:rPr lang="en-US" sz="1700" i="1">
                        <a:latin typeface="+mn-lt"/>
                      </a:rPr>
                      <m:t>)</m:t>
                    </m:r>
                  </m:oMath>
                </a14:m>
                <a:r>
                  <a:rPr lang="en-US" sz="1700" dirty="0">
                    <a:latin typeface="+mn-lt"/>
                  </a:rPr>
                  <a:t>, and driving force. </a:t>
                </a:r>
              </a:p>
              <a:p>
                <a:r>
                  <a:rPr lang="en-US" sz="1700" i="1" dirty="0">
                    <a:latin typeface="+mn-lt"/>
                  </a:rPr>
                  <a:t>From single events to integration rules</a:t>
                </a:r>
                <a:r>
                  <a:rPr lang="en-US" sz="1700" dirty="0">
                    <a:latin typeface="+mn-lt"/>
                  </a:rPr>
                  <a:t>. A single presynaptic spike elicits an EPSP or IPSP with a characteristic latency and peak; varying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+mn-lt"/>
                          </a:rPr>
                        </m:ctrlPr>
                      </m:sSubPr>
                      <m:e>
                        <m:r>
                          <a:rPr lang="en-US" sz="1700" i="1">
                            <a:latin typeface="+mn-lt"/>
                          </a:rPr>
                          <m:t>𝐸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700">
                            <a:latin typeface="+mn-lt"/>
                          </a:rPr>
                          <m:t>rev</m:t>
                        </m:r>
                      </m:sub>
                    </m:sSub>
                  </m:oMath>
                </a14:m>
                <a:r>
                  <a:rPr lang="en-US" sz="1700" dirty="0">
                    <a:latin typeface="+mn-lt"/>
                  </a:rPr>
                  <a:t>in a controlled sweep reveals where the response flips sign and clarifies the distinction between hyperpolarizing vs shunting inhibition (reduced input resistance with little change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+mn-lt"/>
                          </a:rPr>
                        </m:ctrlPr>
                      </m:sSubPr>
                      <m:e>
                        <m:r>
                          <a:rPr lang="en-US" sz="1700" i="1">
                            <a:latin typeface="+mn-lt"/>
                          </a:rPr>
                          <m:t>𝑉</m:t>
                        </m:r>
                      </m:e>
                      <m:sub>
                        <m:r>
                          <a:rPr lang="en-US" sz="1700" i="1">
                            <a:latin typeface="+mn-lt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1700" dirty="0">
                    <a:latin typeface="+mn-lt"/>
                  </a:rPr>
                  <a:t>near rest). Two spikes at different </a:t>
                </a:r>
                <a:r>
                  <a:rPr lang="en-US" sz="1700" dirty="0" err="1">
                    <a:latin typeface="+mn-lt"/>
                  </a:rPr>
                  <a:t>interspike</a:t>
                </a:r>
                <a:r>
                  <a:rPr lang="en-US" sz="1700" dirty="0">
                    <a:latin typeface="+mn-lt"/>
                  </a:rPr>
                  <a:t> intervals (ISI) expose temporal summation: shorter ISIs increase overlap and peak/area, whereas longer ISIs approach linear superposition. When the postsynaptic cell is spatially extended, identical conductances at proximal and distal dendritic sites produce different somatic effects due to cable filtering; comparing somatic, proximal, and distal traces makes spatial summation and attenuation explicit.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171450" algn="l"/>
                  </a:tabLst>
                </a:pPr>
                <a:endParaRPr lang="en-US" altLang="en-US" sz="1700" dirty="0">
                  <a:latin typeface="+mn-lt"/>
                  <a:cs typeface="Times New Roman" panose="02020603050405020304" pitchFamily="18" charset="0"/>
                </a:endParaRPr>
              </a:p>
              <a:p>
                <a:r>
                  <a:rPr lang="en-US" altLang="en-US" sz="1700" u="sng" dirty="0">
                    <a:latin typeface="+mn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Getting started</a:t>
                </a:r>
                <a:r>
                  <a:rPr lang="en-US" altLang="en-US" sz="1700" dirty="0">
                    <a:latin typeface="+mn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Click on the following link - </a:t>
                </a:r>
                <a:r>
                  <a:rPr lang="en-US" altLang="en-US" sz="1700" dirty="0" err="1">
                    <a:latin typeface="+mn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Colab_A</a:t>
                </a:r>
                <a:r>
                  <a:rPr lang="en-US" altLang="en-US" sz="1700" dirty="0">
                    <a:latin typeface="+mn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complete the sequentially arranged hand-on learning - generating AI prompts for explanations and complete the exercises at the end.</a:t>
                </a:r>
              </a:p>
              <a:p>
                <a:endParaRPr lang="en-US" altLang="en-US" sz="1700" dirty="0">
                  <a:latin typeface="+mn-lt"/>
                  <a:cs typeface="Times New Roman" panose="02020603050405020304" pitchFamily="18" charset="0"/>
                </a:endParaRPr>
              </a:p>
              <a:p>
                <a:r>
                  <a:rPr lang="en-US" altLang="en-US" sz="1700" u="sng" dirty="0">
                    <a:latin typeface="+mn-lt"/>
                    <a:cs typeface="Times New Roman" panose="02020603050405020304" pitchFamily="18" charset="0"/>
                  </a:rPr>
                  <a:t>A set of slides are provided to get started - the learner is encouraged to add more as appropriate.</a:t>
                </a:r>
                <a:endParaRPr lang="en-US" altLang="en-US" sz="1700" u="sng" dirty="0">
                  <a:latin typeface="+mn-lt"/>
                </a:endParaRPr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D650F9E-E20D-0E94-09E5-7C45C205E7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9993" y="138383"/>
                <a:ext cx="10552014" cy="6242863"/>
              </a:xfrm>
              <a:prstGeom prst="rect">
                <a:avLst/>
              </a:prstGeom>
              <a:blipFill>
                <a:blip r:embed="rId2"/>
                <a:stretch>
                  <a:fillRect l="-405" r="-405" b="-78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6881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B1748E-1251-FBC2-DAD5-783A4BA8FD4D}"/>
              </a:ext>
            </a:extLst>
          </p:cNvPr>
          <p:cNvSpPr txBox="1"/>
          <p:nvPr/>
        </p:nvSpPr>
        <p:spPr>
          <a:xfrm>
            <a:off x="566442" y="151179"/>
            <a:ext cx="10794775" cy="5986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700" i="1" dirty="0"/>
          </a:p>
          <a:p>
            <a:r>
              <a:rPr lang="en-US" i="1" dirty="0"/>
              <a:t>Now we connect to systems concepts: RC membrane, conductances, Nernst/Goldman, pumps as rechargers, τ, λ, HH intuition.</a:t>
            </a:r>
          </a:p>
          <a:p>
            <a:r>
              <a:rPr lang="en-US" b="1" dirty="0"/>
              <a:t>Colab for part B - </a:t>
            </a:r>
            <a:r>
              <a:rPr lang="en-US" sz="1000" b="1" dirty="0">
                <a:hlinkClick r:id="rId2"/>
              </a:rPr>
              <a:t>https://colab.research.google.com/github/cyneuro/Chapter_Colabs/blob/main/Colab_B.ipynb</a:t>
            </a:r>
            <a:endParaRPr lang="en-US" sz="1000" b="1" dirty="0"/>
          </a:p>
          <a:p>
            <a:endParaRPr lang="en-US" dirty="0"/>
          </a:p>
          <a:p>
            <a:r>
              <a:rPr lang="en-US" b="1" dirty="0"/>
              <a:t>B1. Membrane as Capacitor + Leak as Resistor</a:t>
            </a:r>
            <a:br>
              <a:rPr lang="en-US" dirty="0"/>
            </a:br>
            <a:r>
              <a:rPr lang="en-US" dirty="0"/>
              <a:t>The bilayer stores charge (</a:t>
            </a:r>
            <a:r>
              <a:rPr lang="en-US" b="1" dirty="0"/>
              <a:t>capacitance</a:t>
            </a:r>
            <a:r>
              <a:rPr lang="en-US" dirty="0"/>
              <a:t>), while leak </a:t>
            </a:r>
          </a:p>
          <a:p>
            <a:r>
              <a:rPr lang="en-US" dirty="0"/>
              <a:t>channels provide </a:t>
            </a:r>
            <a:r>
              <a:rPr lang="en-US" b="1" dirty="0"/>
              <a:t>conductive paths</a:t>
            </a:r>
            <a:r>
              <a:rPr lang="en-US" dirty="0"/>
              <a:t>. </a:t>
            </a:r>
          </a:p>
          <a:p>
            <a:r>
              <a:rPr lang="en-US" dirty="0"/>
              <a:t>Together they produce </a:t>
            </a:r>
            <a:r>
              <a:rPr lang="en-US" b="1" dirty="0"/>
              <a:t>RC‑like</a:t>
            </a:r>
            <a:r>
              <a:rPr lang="en-US" dirty="0"/>
              <a:t> voltage time courses.</a:t>
            </a:r>
          </a:p>
          <a:p>
            <a:r>
              <a:rPr lang="en-US" b="1" dirty="0"/>
              <a:t>Self‑learning prompt: </a:t>
            </a:r>
            <a:r>
              <a:rPr lang="en-US" dirty="0"/>
              <a:t>Using everyday analogies, explain why </a:t>
            </a:r>
          </a:p>
          <a:p>
            <a:r>
              <a:rPr lang="en-US" dirty="0"/>
              <a:t>membranes have capacitance and how leak affects voltage </a:t>
            </a:r>
          </a:p>
          <a:p>
            <a:r>
              <a:rPr lang="en-US" dirty="0"/>
              <a:t>over time. Predict the qualitative shape of V(t) to a small </a:t>
            </a:r>
          </a:p>
          <a:p>
            <a:r>
              <a:rPr lang="en-US" dirty="0"/>
              <a:t>current step.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B2. Ion Gradients as Batteries — Nernst Potentials</a:t>
            </a:r>
            <a:endParaRPr lang="en-US" dirty="0"/>
          </a:p>
          <a:p>
            <a:r>
              <a:rPr lang="en-US" dirty="0"/>
              <a:t>Each ion’s gradient corresponds to a </a:t>
            </a:r>
            <a:r>
              <a:rPr lang="en-US" b="1" dirty="0"/>
              <a:t>reversal potential</a:t>
            </a:r>
            <a:r>
              <a:rPr lang="en-US" dirty="0"/>
              <a:t> </a:t>
            </a:r>
          </a:p>
          <a:p>
            <a:r>
              <a:rPr lang="en-US" dirty="0"/>
              <a:t>via Nernst. Channel selectivity ties ion flow to </a:t>
            </a:r>
            <a:r>
              <a:rPr lang="en-US" b="1" dirty="0"/>
              <a:t>driving force</a:t>
            </a:r>
            <a:endParaRPr lang="en-US" dirty="0"/>
          </a:p>
          <a:p>
            <a:r>
              <a:rPr lang="en-US" b="1" dirty="0"/>
              <a:t>Self‑learning prompt: </a:t>
            </a:r>
            <a:r>
              <a:rPr lang="en-US" dirty="0"/>
              <a:t>Compute E_K and </a:t>
            </a:r>
            <a:r>
              <a:rPr lang="en-US" dirty="0" err="1"/>
              <a:t>E_Na</a:t>
            </a:r>
            <a:r>
              <a:rPr lang="en-US" dirty="0"/>
              <a:t> from given </a:t>
            </a:r>
          </a:p>
          <a:p>
            <a:r>
              <a:rPr lang="en-US" dirty="0"/>
              <a:t>concentrations. Explain how changing internal K⁺ or external</a:t>
            </a:r>
          </a:p>
          <a:p>
            <a:r>
              <a:rPr lang="en-US" dirty="0"/>
              <a:t>Na⁺ shifts the corresponding Nernst potentials.</a:t>
            </a:r>
          </a:p>
          <a:p>
            <a:endParaRPr lang="en-US" dirty="0"/>
          </a:p>
          <a:p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B715A5-5ED3-6BA1-F7AE-DCEE115CC2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0879" y="1056898"/>
            <a:ext cx="4735990" cy="2503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6D5BD8-F224-ED0A-68DC-3E4635CB5F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3656" y="3595034"/>
            <a:ext cx="3211254" cy="23397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4206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47587-138B-1AE7-A856-407A95C61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076A1F-4422-5497-47F1-3DC86BF2915D}"/>
              </a:ext>
            </a:extLst>
          </p:cNvPr>
          <p:cNvSpPr txBox="1"/>
          <p:nvPr/>
        </p:nvSpPr>
        <p:spPr>
          <a:xfrm>
            <a:off x="339865" y="197346"/>
            <a:ext cx="10794775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B3. Multiple Ions — Goldman–Hodgkin–Katz (GHK) and Resting Potential</a:t>
            </a:r>
            <a:endParaRPr lang="en-US" dirty="0"/>
          </a:p>
          <a:p>
            <a:r>
              <a:rPr lang="en-US" dirty="0"/>
              <a:t>With several permeant ions, resting V depends on </a:t>
            </a:r>
            <a:r>
              <a:rPr lang="en-US" b="1" dirty="0"/>
              <a:t>relative permeabilities</a:t>
            </a:r>
            <a:r>
              <a:rPr lang="en-US" dirty="0"/>
              <a:t> (P_K, </a:t>
            </a:r>
            <a:r>
              <a:rPr lang="en-US" dirty="0" err="1"/>
              <a:t>P_Na</a:t>
            </a:r>
            <a:r>
              <a:rPr lang="en-US" dirty="0"/>
              <a:t>, </a:t>
            </a:r>
            <a:r>
              <a:rPr lang="en-US" dirty="0" err="1"/>
              <a:t>P_Cl</a:t>
            </a:r>
            <a:r>
              <a:rPr lang="en-US" dirty="0"/>
              <a:t>), not just concentrations.</a:t>
            </a:r>
          </a:p>
          <a:p>
            <a:r>
              <a:rPr lang="en-US" b="1" dirty="0"/>
              <a:t>Self‑learning prompt:</a:t>
            </a:r>
          </a:p>
          <a:p>
            <a:r>
              <a:rPr lang="en-US" dirty="0"/>
              <a:t>Explain how changing </a:t>
            </a:r>
          </a:p>
          <a:p>
            <a:r>
              <a:rPr lang="en-US" dirty="0"/>
              <a:t>P_K/</a:t>
            </a:r>
            <a:r>
              <a:rPr lang="en-US" dirty="0" err="1"/>
              <a:t>P_Na</a:t>
            </a:r>
            <a:r>
              <a:rPr lang="en-US" dirty="0"/>
              <a:t> moves the </a:t>
            </a:r>
          </a:p>
          <a:p>
            <a:r>
              <a:rPr lang="en-US" dirty="0"/>
              <a:t>resting potential. </a:t>
            </a:r>
          </a:p>
          <a:p>
            <a:r>
              <a:rPr lang="en-US" dirty="0"/>
              <a:t>Provide a qualitative </a:t>
            </a:r>
          </a:p>
          <a:p>
            <a:r>
              <a:rPr lang="en-US" dirty="0"/>
              <a:t>graph showing resting </a:t>
            </a:r>
          </a:p>
          <a:p>
            <a:r>
              <a:rPr lang="en-US" dirty="0"/>
              <a:t>V as P_K increases.</a:t>
            </a:r>
            <a:br>
              <a:rPr lang="en-US" dirty="0"/>
            </a:br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B4. Voltage‑Gated Channels — Activation &amp; Inactivation (m, h, n) </a:t>
            </a:r>
            <a:r>
              <a:rPr lang="en-US" dirty="0"/>
              <a:t>Na⁺ channels: </a:t>
            </a:r>
            <a:r>
              <a:rPr lang="en-US" b="1" dirty="0"/>
              <a:t>activation (m)</a:t>
            </a:r>
            <a:r>
              <a:rPr lang="en-US" dirty="0"/>
              <a:t> and </a:t>
            </a:r>
            <a:r>
              <a:rPr lang="en-US" b="1" dirty="0"/>
              <a:t>inactivation (h)</a:t>
            </a:r>
            <a:r>
              <a:rPr lang="en-US" dirty="0"/>
              <a:t>; K⁺: </a:t>
            </a:r>
            <a:r>
              <a:rPr lang="en-US" b="1" dirty="0"/>
              <a:t>activation (n)</a:t>
            </a:r>
            <a:r>
              <a:rPr lang="en-US" dirty="0"/>
              <a:t>. Their voltage dependence creates spikes via positive and negative </a:t>
            </a:r>
          </a:p>
          <a:p>
            <a:r>
              <a:rPr lang="en-US" dirty="0"/>
              <a:t>feedback loops.</a:t>
            </a:r>
          </a:p>
          <a:p>
            <a:r>
              <a:rPr lang="en-US" b="1" dirty="0"/>
              <a:t>Self‑learning prompt: </a:t>
            </a:r>
            <a:r>
              <a:rPr lang="en-US" dirty="0"/>
              <a:t>Describe how m, h, and n change with depolarization and how that sequence produces an action potential’s rise and fall.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67717B-1F81-D52A-427A-5B891C2C69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5110" y="903484"/>
            <a:ext cx="2853736" cy="2079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1AC796-D4CD-200A-8E5B-F8E32F9A16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53" y="2982732"/>
            <a:ext cx="1838582" cy="20005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0E08D3-26FF-216E-D624-0BEBA288DBE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400"/>
          <a:stretch>
            <a:fillRect/>
          </a:stretch>
        </p:blipFill>
        <p:spPr>
          <a:xfrm>
            <a:off x="2837941" y="821314"/>
            <a:ext cx="5965965" cy="432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667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292BF-FDEC-1E64-D99D-A06C17D38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8A91C0-E6C9-7CEF-787D-B020B3536961}"/>
                  </a:ext>
                </a:extLst>
              </p:cNvPr>
              <p:cNvSpPr txBox="1"/>
              <p:nvPr/>
            </p:nvSpPr>
            <p:spPr>
              <a:xfrm>
                <a:off x="566442" y="151179"/>
                <a:ext cx="10794775" cy="5047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B5. Pumps as ‘Rechargers’ — Gradient Maintenance</a:t>
                </a:r>
                <a:br>
                  <a:rPr lang="en-US" dirty="0"/>
                </a:br>
                <a:r>
                  <a:rPr lang="en-US" dirty="0"/>
                  <a:t>Pumps minimally shift V in the short term but </a:t>
                </a:r>
                <a:r>
                  <a:rPr lang="en-US" b="1" dirty="0"/>
                  <a:t>sustain gradients</a:t>
                </a:r>
                <a:r>
                  <a:rPr lang="en-US" dirty="0"/>
                  <a:t> critical for long‑term excitability and recovery.</a:t>
                </a:r>
              </a:p>
              <a:p>
                <a:r>
                  <a:rPr lang="en-US" b="1" dirty="0"/>
                  <a:t>Self‑learning prompt</a:t>
                </a:r>
                <a:br>
                  <a:rPr lang="en-US" dirty="0"/>
                </a:br>
                <a:r>
                  <a:rPr lang="en-US" dirty="0"/>
                  <a:t>“Explain why blocking the Na⁺/K⁺ pump gradually alters excitability over minutes to hours rather than instantly.”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B6. Time Constant (τ) — Temporal Filtering</a:t>
                </a:r>
                <a:endParaRPr lang="en-US" dirty="0"/>
              </a:p>
              <a:p>
                <a:r>
                  <a:rPr lang="en-US" b="1" dirty="0"/>
                  <a:t>IMAGE INSERT HERE — “Exponential Voltage Relaxation Plot”</a:t>
                </a:r>
                <a:br>
                  <a:rPr lang="en-US" dirty="0"/>
                </a:br>
                <a:r>
                  <a:rPr lang="en-US" i="1" dirty="0"/>
                  <a:t>Alt‑text:</a:t>
                </a:r>
                <a:r>
                  <a:rPr lang="en-US" dirty="0"/>
                  <a:t> “Exponential charging/relaxation curve.”</a:t>
                </a:r>
              </a:p>
              <a:p>
                <a:r>
                  <a:rPr lang="en-US" b="1" dirty="0"/>
                  <a:t>Core text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/>
                  <a:t>sets how quickly the membrane voltage changes to inputs.</a:t>
                </a:r>
              </a:p>
              <a:p>
                <a:r>
                  <a:rPr lang="en-US" b="1" dirty="0"/>
                  <a:t>Self‑learning prompt</a:t>
                </a:r>
                <a:br>
                  <a:rPr lang="en-US" dirty="0"/>
                </a:br>
                <a:r>
                  <a:rPr lang="en-US" dirty="0"/>
                  <a:t>“Predict how doubling membrane capacitance changes the time course of a small voltage response. Explain why.”</a:t>
                </a:r>
              </a:p>
              <a:p>
                <a:endParaRPr lang="en-US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8A91C0-E6C9-7CEF-787D-B020B3536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442" y="151179"/>
                <a:ext cx="10794775" cy="5047536"/>
              </a:xfrm>
              <a:prstGeom prst="rect">
                <a:avLst/>
              </a:prstGeom>
              <a:blipFill>
                <a:blip r:embed="rId2"/>
                <a:stretch>
                  <a:fillRect l="-508" t="-604" r="-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9376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78428-0EAC-E23E-E1C2-100BF8271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A8049C-9B91-875D-9B6F-69795535BEEC}"/>
                  </a:ext>
                </a:extLst>
              </p:cNvPr>
              <p:cNvSpPr txBox="1"/>
              <p:nvPr/>
            </p:nvSpPr>
            <p:spPr>
              <a:xfrm>
                <a:off x="566442" y="151179"/>
                <a:ext cx="10794775" cy="56232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B7. Length Constant (λ) — Spatial Attenuation</a:t>
                </a:r>
                <a:endParaRPr lang="en-US" dirty="0"/>
              </a:p>
              <a:p>
                <a:r>
                  <a:rPr lang="en-US" b="1" dirty="0"/>
                  <a:t>IMAGE INSERT HERE — “EPSP Attenuation Over Distance”</a:t>
                </a:r>
                <a:br>
                  <a:rPr lang="en-US" dirty="0"/>
                </a:br>
                <a:r>
                  <a:rPr lang="en-US" i="1" dirty="0"/>
                  <a:t>Alt‑text:</a:t>
                </a:r>
                <a:r>
                  <a:rPr lang="en-US" dirty="0"/>
                  <a:t> “EPSP amplitude decays with distance; thicker dendrite attenuates less.”</a:t>
                </a:r>
              </a:p>
              <a:p>
                <a:r>
                  <a:rPr lang="en-US" b="1" dirty="0"/>
                  <a:t>Core text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r>
                  <a:rPr lang="en-US" dirty="0"/>
                  <a:t>(qualitatively) sets how far local voltage spreads along neurites; diameter matters.</a:t>
                </a:r>
              </a:p>
              <a:p>
                <a:r>
                  <a:rPr lang="en-US" b="1" dirty="0"/>
                  <a:t>Self‑learning prompt</a:t>
                </a:r>
                <a:br>
                  <a:rPr lang="en-US" dirty="0"/>
                </a:br>
                <a:r>
                  <a:rPr lang="en-US" dirty="0"/>
                  <a:t>“Explain how increasing dendrite diameter affects λ and why distal inputs may be weaker at the soma.”</a:t>
                </a:r>
              </a:p>
              <a:p>
                <a:br>
                  <a:rPr lang="en-US" dirty="0"/>
                </a:br>
                <a:endParaRPr lang="en-US" dirty="0"/>
              </a:p>
              <a:p>
                <a:r>
                  <a:rPr lang="en-US" b="1" dirty="0"/>
                  <a:t>B8. Driving Force —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m:rPr>
                            <m:nor/>
                          </m:rPr>
                          <a:rPr lang="en-US" b="1"/>
                          <m:t>ion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IMAGE INSERT HERE — “Driving Force Direction Diagram”</a:t>
                </a:r>
                <a:br>
                  <a:rPr lang="en-US" dirty="0"/>
                </a:br>
                <a:r>
                  <a:rPr lang="en-US" i="1" dirty="0"/>
                  <a:t>Alt‑text:</a:t>
                </a:r>
                <a:r>
                  <a:rPr lang="en-US" dirty="0"/>
                  <a:t> “Arrows showing inward/outward current depending on V and </a:t>
                </a:r>
                <a:r>
                  <a:rPr lang="en-US" dirty="0" err="1"/>
                  <a:t>E_ion</a:t>
                </a:r>
                <a:r>
                  <a:rPr lang="en-US" dirty="0"/>
                  <a:t>.”</a:t>
                </a:r>
              </a:p>
              <a:p>
                <a:r>
                  <a:rPr lang="en-US" b="1" dirty="0"/>
                  <a:t>Core text</a:t>
                </a:r>
                <a:br>
                  <a:rPr lang="en-US" dirty="0"/>
                </a:br>
                <a:r>
                  <a:rPr lang="en-US" dirty="0"/>
                  <a:t>Current direction and magnitude arise from the difference between </a:t>
                </a:r>
                <a:r>
                  <a:rPr lang="en-US" b="1" dirty="0"/>
                  <a:t>membrane voltage</a:t>
                </a:r>
                <a:r>
                  <a:rPr lang="en-US" dirty="0"/>
                  <a:t> and the </a:t>
                </a:r>
                <a:r>
                  <a:rPr lang="en-US" b="1" dirty="0"/>
                  <a:t>ion’s reversal</a:t>
                </a:r>
                <a:r>
                  <a:rPr lang="en-US" dirty="0"/>
                  <a:t>.</a:t>
                </a:r>
              </a:p>
              <a:p>
                <a:r>
                  <a:rPr lang="en-US" b="1" dirty="0"/>
                  <a:t>Self‑learning prompt</a:t>
                </a:r>
                <a:br>
                  <a:rPr lang="en-US" dirty="0"/>
                </a:br>
                <a:r>
                  <a:rPr lang="en-US" dirty="0"/>
                  <a:t>“Given V = −65 mV and </a:t>
                </a:r>
                <a:r>
                  <a:rPr lang="en-US" dirty="0" err="1"/>
                  <a:t>E_Cl</a:t>
                </a:r>
                <a:r>
                  <a:rPr lang="en-US" dirty="0"/>
                  <a:t> = −70 mV, explain whether opening Cl⁻ channels depolarizes, hyperpolarizes, or shunts and why.”</a:t>
                </a:r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CA8049C-9B91-875D-9B6F-69795535B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442" y="151179"/>
                <a:ext cx="10794775" cy="5623206"/>
              </a:xfrm>
              <a:prstGeom prst="rect">
                <a:avLst/>
              </a:prstGeom>
              <a:blipFill>
                <a:blip r:embed="rId2"/>
                <a:stretch>
                  <a:fillRect l="-508" t="-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8301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6B978-E524-FF48-5267-6C091B557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1F3812-E005-4ED4-44C4-E53D201CB775}"/>
              </a:ext>
            </a:extLst>
          </p:cNvPr>
          <p:cNvSpPr txBox="1"/>
          <p:nvPr/>
        </p:nvSpPr>
        <p:spPr>
          <a:xfrm>
            <a:off x="566442" y="151179"/>
            <a:ext cx="10794775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B9. Myelination — Changing Effective Membrane Properties</a:t>
            </a:r>
            <a:br>
              <a:rPr lang="en-US" dirty="0"/>
            </a:br>
            <a:r>
              <a:rPr lang="en-US" dirty="0"/>
              <a:t>Myelin </a:t>
            </a:r>
            <a:r>
              <a:rPr lang="en-US" b="1" dirty="0"/>
              <a:t>reduces capacitance</a:t>
            </a:r>
            <a:r>
              <a:rPr lang="en-US" dirty="0"/>
              <a:t> and </a:t>
            </a:r>
            <a:r>
              <a:rPr lang="en-US" b="1" dirty="0"/>
              <a:t>increases resistance</a:t>
            </a:r>
            <a:r>
              <a:rPr lang="en-US" dirty="0"/>
              <a:t> in internodes, enabling </a:t>
            </a:r>
            <a:r>
              <a:rPr lang="en-US" b="1" dirty="0"/>
              <a:t>saltatory conduction</a:t>
            </a:r>
            <a:r>
              <a:rPr lang="en-US" dirty="0"/>
              <a:t> between nodes.</a:t>
            </a:r>
          </a:p>
          <a:p>
            <a:r>
              <a:rPr lang="en-US" b="1" dirty="0"/>
              <a:t>Self‑learning prompt</a:t>
            </a:r>
            <a:br>
              <a:rPr lang="en-US" dirty="0"/>
            </a:br>
            <a:r>
              <a:rPr lang="en-US" dirty="0"/>
              <a:t>“Predict how demyelination affects signal propagation and threshold at nodes.”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B10. Hodgkin–Huxley in a Nutshell — The Membrane Equation</a:t>
            </a:r>
            <a:br>
              <a:rPr lang="en-US" dirty="0"/>
            </a:br>
            <a:r>
              <a:rPr lang="en-US" dirty="0"/>
              <a:t>The membrane equation combines </a:t>
            </a:r>
            <a:r>
              <a:rPr lang="en-US" b="1" dirty="0"/>
              <a:t>capacitance</a:t>
            </a:r>
            <a:r>
              <a:rPr lang="en-US" dirty="0"/>
              <a:t>, </a:t>
            </a:r>
            <a:r>
              <a:rPr lang="en-US" b="1" dirty="0"/>
              <a:t>conductances</a:t>
            </a:r>
            <a:r>
              <a:rPr lang="en-US" dirty="0"/>
              <a:t>, and </a:t>
            </a:r>
            <a:r>
              <a:rPr lang="en-US" b="1" dirty="0"/>
              <a:t>driving forces</a:t>
            </a:r>
            <a:r>
              <a:rPr lang="en-US" dirty="0"/>
              <a:t> into a time‑evolving voltage description used in simulators like NEURON.</a:t>
            </a:r>
          </a:p>
          <a:p>
            <a:r>
              <a:rPr lang="en-US" b="1" dirty="0"/>
              <a:t>Self‑learning prompt</a:t>
            </a:r>
            <a:br>
              <a:rPr lang="en-US" dirty="0"/>
            </a:br>
            <a:r>
              <a:rPr lang="en-US" dirty="0"/>
              <a:t>“In 4–6 sentences, map capacitor, conductances, and reversal potentials to biological elements and state the membrane equation qualitatively (no derivation).”</a:t>
            </a:r>
          </a:p>
          <a:p>
            <a:endParaRPr lang="en-US" dirty="0"/>
          </a:p>
          <a:p>
            <a:endParaRPr lang="en-US" sz="1600" dirty="0"/>
          </a:p>
        </p:txBody>
      </p:sp>
      <p:pic>
        <p:nvPicPr>
          <p:cNvPr id="2" name="Picture 1" descr="Diagram&#10;&#10;Description automatically generated">
            <a:extLst>
              <a:ext uri="{FF2B5EF4-FFF2-40B4-BE49-F238E27FC236}">
                <a16:creationId xmlns:a16="http://schemas.microsoft.com/office/drawing/2014/main" id="{F882F37D-CFBA-62CF-A775-5B88998936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74" t="13113" r="17465" b="16933"/>
          <a:stretch>
            <a:fillRect/>
          </a:stretch>
        </p:blipFill>
        <p:spPr>
          <a:xfrm>
            <a:off x="7157349" y="3544312"/>
            <a:ext cx="4090579" cy="294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108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1098</Words>
  <Application>Microsoft Office PowerPoint</Application>
  <PresentationFormat>Widescreen</PresentationFormat>
  <Paragraphs>65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Nair, Satish</dc:creator>
  <cp:lastModifiedBy>Nair, Satish</cp:lastModifiedBy>
  <cp:revision>1</cp:revision>
  <dcterms:created xsi:type="dcterms:W3CDTF">2026-03-09T03:33:19Z</dcterms:created>
  <dcterms:modified xsi:type="dcterms:W3CDTF">2026-03-23T06:01:45Z</dcterms:modified>
</cp:coreProperties>
</file>