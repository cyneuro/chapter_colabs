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64" r:id="rId2"/>
    <p:sldId id="256"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760C2-3403-4A39-888D-D121F39DCDF2}" v="15" dt="2026-03-23T00:35:18.500"/>
    <p1510:client id="{C3D63829-F4D0-4A66-92DF-54186CA2473C}" v="11" dt="2026-03-23T18:15:46.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12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r, Satish" userId="af50c098-07d3-4545-ad93-15c24b849386" providerId="ADAL" clId="{B575728E-D61F-49E0-BC8E-8DC5242C7AE2}"/>
    <pc:docChg chg="undo redo custSel addSld delSld modSld sldOrd">
      <pc:chgData name="Nair, Satish" userId="af50c098-07d3-4545-ad93-15c24b849386" providerId="ADAL" clId="{B575728E-D61F-49E0-BC8E-8DC5242C7AE2}" dt="2026-03-23T18:15:46.048" v="1259"/>
      <pc:docMkLst>
        <pc:docMk/>
      </pc:docMkLst>
      <pc:sldChg chg="addSp delSp modSp new mod">
        <pc:chgData name="Nair, Satish" userId="af50c098-07d3-4545-ad93-15c24b849386" providerId="ADAL" clId="{B575728E-D61F-49E0-BC8E-8DC5242C7AE2}" dt="2026-03-23T06:00:13.563" v="1254" actId="20577"/>
        <pc:sldMkLst>
          <pc:docMk/>
          <pc:sldMk cId="1764206999" sldId="256"/>
        </pc:sldMkLst>
        <pc:spChg chg="add mod">
          <ac:chgData name="Nair, Satish" userId="af50c098-07d3-4545-ad93-15c24b849386" providerId="ADAL" clId="{B575728E-D61F-49E0-BC8E-8DC5242C7AE2}" dt="2026-03-23T06:00:13.563" v="1254" actId="20577"/>
          <ac:spMkLst>
            <pc:docMk/>
            <pc:sldMk cId="1764206999" sldId="256"/>
            <ac:spMk id="4" creationId="{D0B1748E-1251-FBC2-DAD5-783A4BA8FD4D}"/>
          </ac:spMkLst>
        </pc:spChg>
        <pc:picChg chg="add mod">
          <ac:chgData name="Nair, Satish" userId="af50c098-07d3-4545-ad93-15c24b849386" providerId="ADAL" clId="{B575728E-D61F-49E0-BC8E-8DC5242C7AE2}" dt="2026-03-09T05:15:23.174" v="987" actId="14100"/>
          <ac:picMkLst>
            <pc:docMk/>
            <pc:sldMk cId="1764206999" sldId="256"/>
            <ac:picMk id="3" creationId="{DFB715A5-5ED3-6BA1-F7AE-DCEE115CC295}"/>
          </ac:picMkLst>
        </pc:picChg>
        <pc:picChg chg="add mod">
          <ac:chgData name="Nair, Satish" userId="af50c098-07d3-4545-ad93-15c24b849386" providerId="ADAL" clId="{B575728E-D61F-49E0-BC8E-8DC5242C7AE2}" dt="2026-03-09T05:17:53.545" v="991" actId="1076"/>
          <ac:picMkLst>
            <pc:docMk/>
            <pc:sldMk cId="1764206999" sldId="256"/>
            <ac:picMk id="6" creationId="{626D5BD8-F224-ED0A-68DC-3E4635CB5FC3}"/>
          </ac:picMkLst>
        </pc:picChg>
      </pc:sldChg>
      <pc:sldChg chg="addSp delSp modSp add mod">
        <pc:chgData name="Nair, Satish" userId="af50c098-07d3-4545-ad93-15c24b849386" providerId="ADAL" clId="{B575728E-D61F-49E0-BC8E-8DC5242C7AE2}" dt="2026-03-21T15:26:48.300" v="1117" actId="1076"/>
        <pc:sldMkLst>
          <pc:docMk/>
          <pc:sldMk cId="4012667350" sldId="260"/>
        </pc:sldMkLst>
        <pc:spChg chg="mod">
          <ac:chgData name="Nair, Satish" userId="af50c098-07d3-4545-ad93-15c24b849386" providerId="ADAL" clId="{B575728E-D61F-49E0-BC8E-8DC5242C7AE2}" dt="2026-03-09T05:44:09.564" v="1067" actId="1076"/>
          <ac:spMkLst>
            <pc:docMk/>
            <pc:sldMk cId="4012667350" sldId="260"/>
            <ac:spMk id="4" creationId="{5D076A1F-4422-5497-47F1-3DC86BF2915D}"/>
          </ac:spMkLst>
        </pc:spChg>
        <pc:picChg chg="add mod">
          <ac:chgData name="Nair, Satish" userId="af50c098-07d3-4545-ad93-15c24b849386" providerId="ADAL" clId="{B575728E-D61F-49E0-BC8E-8DC5242C7AE2}" dt="2026-03-09T05:44:19.450" v="1069" actId="1076"/>
          <ac:picMkLst>
            <pc:docMk/>
            <pc:sldMk cId="4012667350" sldId="260"/>
            <ac:picMk id="3" creationId="{D067717B-1F81-D52A-427A-5B891C2C694D}"/>
          </ac:picMkLst>
        </pc:picChg>
        <pc:picChg chg="add mod">
          <ac:chgData name="Nair, Satish" userId="af50c098-07d3-4545-ad93-15c24b849386" providerId="ADAL" clId="{B575728E-D61F-49E0-BC8E-8DC5242C7AE2}" dt="2026-03-09T05:43:42.976" v="1057" actId="1076"/>
          <ac:picMkLst>
            <pc:docMk/>
            <pc:sldMk cId="4012667350" sldId="260"/>
            <ac:picMk id="5" creationId="{FD1AC796-D4CD-200A-8E5B-F8E32F9A168F}"/>
          </ac:picMkLst>
        </pc:picChg>
        <pc:picChg chg="add mod modCrop">
          <ac:chgData name="Nair, Satish" userId="af50c098-07d3-4545-ad93-15c24b849386" providerId="ADAL" clId="{B575728E-D61F-49E0-BC8E-8DC5242C7AE2}" dt="2026-03-21T15:26:48.300" v="1117" actId="1076"/>
          <ac:picMkLst>
            <pc:docMk/>
            <pc:sldMk cId="4012667350" sldId="260"/>
            <ac:picMk id="7" creationId="{8C0E08D3-26FF-216E-D624-0BEBA288DBE3}"/>
          </ac:picMkLst>
        </pc:picChg>
      </pc:sldChg>
      <pc:sldChg chg="modSp add mod">
        <pc:chgData name="Nair, Satish" userId="af50c098-07d3-4545-ad93-15c24b849386" providerId="ADAL" clId="{B575728E-D61F-49E0-BC8E-8DC5242C7AE2}" dt="2026-03-09T05:01:08.826" v="901" actId="20577"/>
        <pc:sldMkLst>
          <pc:docMk/>
          <pc:sldMk cId="2039376043" sldId="261"/>
        </pc:sldMkLst>
        <pc:spChg chg="mod">
          <ac:chgData name="Nair, Satish" userId="af50c098-07d3-4545-ad93-15c24b849386" providerId="ADAL" clId="{B575728E-D61F-49E0-BC8E-8DC5242C7AE2}" dt="2026-03-09T05:01:08.826" v="901" actId="20577"/>
          <ac:spMkLst>
            <pc:docMk/>
            <pc:sldMk cId="2039376043" sldId="261"/>
            <ac:spMk id="4" creationId="{7C8A91C0-E6C9-7CEF-787D-B020B3536961}"/>
          </ac:spMkLst>
        </pc:spChg>
      </pc:sldChg>
      <pc:sldChg chg="modSp add mod">
        <pc:chgData name="Nair, Satish" userId="af50c098-07d3-4545-ad93-15c24b849386" providerId="ADAL" clId="{B575728E-D61F-49E0-BC8E-8DC5242C7AE2}" dt="2026-03-09T05:01:49.048" v="907" actId="20577"/>
        <pc:sldMkLst>
          <pc:docMk/>
          <pc:sldMk cId="3608301042" sldId="262"/>
        </pc:sldMkLst>
        <pc:spChg chg="mod">
          <ac:chgData name="Nair, Satish" userId="af50c098-07d3-4545-ad93-15c24b849386" providerId="ADAL" clId="{B575728E-D61F-49E0-BC8E-8DC5242C7AE2}" dt="2026-03-09T05:01:49.048" v="907" actId="20577"/>
          <ac:spMkLst>
            <pc:docMk/>
            <pc:sldMk cId="3608301042" sldId="262"/>
            <ac:spMk id="4" creationId="{1CA8049C-9B91-875D-9B6F-69795535BEEC}"/>
          </ac:spMkLst>
        </pc:spChg>
      </pc:sldChg>
      <pc:sldChg chg="addSp modSp add mod">
        <pc:chgData name="Nair, Satish" userId="af50c098-07d3-4545-ad93-15c24b849386" providerId="ADAL" clId="{B575728E-D61F-49E0-BC8E-8DC5242C7AE2}" dt="2026-03-09T05:15:12.758" v="984" actId="1076"/>
        <pc:sldMkLst>
          <pc:docMk/>
          <pc:sldMk cId="3606108365" sldId="263"/>
        </pc:sldMkLst>
        <pc:spChg chg="mod">
          <ac:chgData name="Nair, Satish" userId="af50c098-07d3-4545-ad93-15c24b849386" providerId="ADAL" clId="{B575728E-D61F-49E0-BC8E-8DC5242C7AE2}" dt="2026-03-09T05:15:06.911" v="982" actId="20577"/>
          <ac:spMkLst>
            <pc:docMk/>
            <pc:sldMk cId="3606108365" sldId="263"/>
            <ac:spMk id="4" creationId="{171F3812-E005-4ED4-44C4-E53D201CB775}"/>
          </ac:spMkLst>
        </pc:spChg>
        <pc:picChg chg="add mod">
          <ac:chgData name="Nair, Satish" userId="af50c098-07d3-4545-ad93-15c24b849386" providerId="ADAL" clId="{B575728E-D61F-49E0-BC8E-8DC5242C7AE2}" dt="2026-03-09T05:15:12.758" v="984" actId="1076"/>
          <ac:picMkLst>
            <pc:docMk/>
            <pc:sldMk cId="3606108365" sldId="263"/>
            <ac:picMk id="2" creationId="{F882F37D-CFBA-62CF-A775-5B889989361A}"/>
          </ac:picMkLst>
        </pc:picChg>
      </pc:sldChg>
      <pc:sldChg chg="modSp add mod ord">
        <pc:chgData name="Nair, Satish" userId="af50c098-07d3-4545-ad93-15c24b849386" providerId="ADAL" clId="{B575728E-D61F-49E0-BC8E-8DC5242C7AE2}" dt="2026-03-23T18:15:46.048" v="1259"/>
        <pc:sldMkLst>
          <pc:docMk/>
          <pc:sldMk cId="2936881161" sldId="264"/>
        </pc:sldMkLst>
        <pc:spChg chg="mod">
          <ac:chgData name="Nair, Satish" userId="af50c098-07d3-4545-ad93-15c24b849386" providerId="ADAL" clId="{B575728E-D61F-49E0-BC8E-8DC5242C7AE2}" dt="2026-03-23T18:15:46.048" v="1259"/>
          <ac:spMkLst>
            <pc:docMk/>
            <pc:sldMk cId="2936881161" sldId="264"/>
            <ac:spMk id="3" creationId="{6D650F9E-E20D-0E94-09E5-7C45C205E7A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55C27-59AB-4A4B-A7BD-DF84115AA115}"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67DA3-17AF-4FF0-BC33-DFEA0A33F739}" type="slidenum">
              <a:rPr lang="en-US" smtClean="0"/>
              <a:t>‹#›</a:t>
            </a:fld>
            <a:endParaRPr lang="en-US"/>
          </a:p>
        </p:txBody>
      </p:sp>
    </p:spTree>
    <p:extLst>
      <p:ext uri="{BB962C8B-B14F-4D97-AF65-F5344CB8AC3E}">
        <p14:creationId xmlns:p14="http://schemas.microsoft.com/office/powerpoint/2010/main" val="3012963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BC25-E4D0-7EDF-CE1F-4B8DDCCAA5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C556AE-079E-25B5-E6D4-7EFE93828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FDAE12-89D4-2C01-C85B-2FB931553425}"/>
              </a:ext>
            </a:extLst>
          </p:cNvPr>
          <p:cNvSpPr>
            <a:spLocks noGrp="1"/>
          </p:cNvSpPr>
          <p:nvPr>
            <p:ph type="dt" sz="half" idx="10"/>
          </p:nvPr>
        </p:nvSpPr>
        <p:spPr/>
        <p:txBody>
          <a:bodyPr/>
          <a:lstStyle/>
          <a:p>
            <a:fld id="{FF32E331-1F60-4B25-A11C-10138B5B2260}" type="datetime1">
              <a:rPr lang="en-US" smtClean="0"/>
              <a:t>3/23/2026</a:t>
            </a:fld>
            <a:endParaRPr lang="en-US"/>
          </a:p>
        </p:txBody>
      </p:sp>
      <p:sp>
        <p:nvSpPr>
          <p:cNvPr id="5" name="Footer Placeholder 4">
            <a:extLst>
              <a:ext uri="{FF2B5EF4-FFF2-40B4-BE49-F238E27FC236}">
                <a16:creationId xmlns:a16="http://schemas.microsoft.com/office/drawing/2014/main" id="{4892D36B-E89B-2B2A-EA81-C2D8FE9F2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2B647-D4F0-0CBD-9FCD-6AA17D91AB0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096132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202F-860B-2A8C-6828-662DBF97C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86339E-6F0F-2AFC-EE0C-F6945D5B76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EFB29-270D-657A-3555-232011A652C7}"/>
              </a:ext>
            </a:extLst>
          </p:cNvPr>
          <p:cNvSpPr>
            <a:spLocks noGrp="1"/>
          </p:cNvSpPr>
          <p:nvPr>
            <p:ph type="dt" sz="half" idx="10"/>
          </p:nvPr>
        </p:nvSpPr>
        <p:spPr/>
        <p:txBody>
          <a:bodyPr/>
          <a:lstStyle/>
          <a:p>
            <a:fld id="{F48EACDA-C910-40E2-81AC-1D8ECF441A6A}" type="datetime1">
              <a:rPr lang="en-US" smtClean="0"/>
              <a:t>3/23/2026</a:t>
            </a:fld>
            <a:endParaRPr lang="en-US"/>
          </a:p>
        </p:txBody>
      </p:sp>
      <p:sp>
        <p:nvSpPr>
          <p:cNvPr id="5" name="Footer Placeholder 4">
            <a:extLst>
              <a:ext uri="{FF2B5EF4-FFF2-40B4-BE49-F238E27FC236}">
                <a16:creationId xmlns:a16="http://schemas.microsoft.com/office/drawing/2014/main" id="{E807D7C0-8285-63EA-E0F9-F6A4B2A8C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E4DBF-836E-9006-E9B8-37C5FA7AEB1A}"/>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20446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2449-E5D4-C801-9520-E077C448F4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612A8A-B4A1-B128-9813-263FF59427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DA2B91-43EB-F8DE-3EAC-18E03AC5E419}"/>
              </a:ext>
            </a:extLst>
          </p:cNvPr>
          <p:cNvSpPr>
            <a:spLocks noGrp="1"/>
          </p:cNvSpPr>
          <p:nvPr>
            <p:ph type="dt" sz="half" idx="10"/>
          </p:nvPr>
        </p:nvSpPr>
        <p:spPr/>
        <p:txBody>
          <a:bodyPr/>
          <a:lstStyle/>
          <a:p>
            <a:fld id="{E12CFFD9-0E6F-4E25-89C9-7C2AE877EF9A}" type="datetime1">
              <a:rPr lang="en-US" smtClean="0"/>
              <a:t>3/23/2026</a:t>
            </a:fld>
            <a:endParaRPr lang="en-US"/>
          </a:p>
        </p:txBody>
      </p:sp>
      <p:sp>
        <p:nvSpPr>
          <p:cNvPr id="5" name="Footer Placeholder 4">
            <a:extLst>
              <a:ext uri="{FF2B5EF4-FFF2-40B4-BE49-F238E27FC236}">
                <a16:creationId xmlns:a16="http://schemas.microsoft.com/office/drawing/2014/main" id="{F541FD23-0821-B07E-2D22-4AF75E0C0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FD298-7808-47BB-C70F-8D15CC58FA3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6793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9BF0-EFDF-C2E4-E77E-9E53B8C72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C2189-51E1-5DDD-EBF5-1D719F4255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122BAC-B11B-0870-41B2-659CE9A3EA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0896F-6B39-A7B1-CF35-02285AB3AC29}"/>
              </a:ext>
            </a:extLst>
          </p:cNvPr>
          <p:cNvSpPr>
            <a:spLocks noGrp="1"/>
          </p:cNvSpPr>
          <p:nvPr>
            <p:ph type="dt" sz="half" idx="10"/>
          </p:nvPr>
        </p:nvSpPr>
        <p:spPr/>
        <p:txBody>
          <a:bodyPr/>
          <a:lstStyle/>
          <a:p>
            <a:fld id="{4861FCD6-4F46-4B11-B2B8-03105DDC408F}" type="datetime1">
              <a:rPr lang="en-US" smtClean="0"/>
              <a:t>3/23/2026</a:t>
            </a:fld>
            <a:endParaRPr lang="en-US"/>
          </a:p>
        </p:txBody>
      </p:sp>
      <p:sp>
        <p:nvSpPr>
          <p:cNvPr id="6" name="Footer Placeholder 5">
            <a:extLst>
              <a:ext uri="{FF2B5EF4-FFF2-40B4-BE49-F238E27FC236}">
                <a16:creationId xmlns:a16="http://schemas.microsoft.com/office/drawing/2014/main" id="{B574AFDF-3661-3D13-1ADC-A764383B33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4F5C7-8CD9-714A-1AA6-1DD93109D7A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29940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5D81-C967-CC36-DA82-AFDA30DC6B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DA566-44E7-1A79-2A4C-C723C5C1C7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DAB48-485E-6D7E-5F3A-D1B7668A0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46E116-9EFE-8AF6-6A80-00CC1172E3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36710-6A60-9C82-8C03-7BBFE01CBF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254922-460A-6337-DE69-954D3F61DB3C}"/>
              </a:ext>
            </a:extLst>
          </p:cNvPr>
          <p:cNvSpPr>
            <a:spLocks noGrp="1"/>
          </p:cNvSpPr>
          <p:nvPr>
            <p:ph type="dt" sz="half" idx="10"/>
          </p:nvPr>
        </p:nvSpPr>
        <p:spPr/>
        <p:txBody>
          <a:bodyPr/>
          <a:lstStyle/>
          <a:p>
            <a:fld id="{B403512D-B46A-4775-A79B-9CB3796DAC87}" type="datetime1">
              <a:rPr lang="en-US" smtClean="0"/>
              <a:t>3/23/2026</a:t>
            </a:fld>
            <a:endParaRPr lang="en-US"/>
          </a:p>
        </p:txBody>
      </p:sp>
      <p:sp>
        <p:nvSpPr>
          <p:cNvPr id="8" name="Footer Placeholder 7">
            <a:extLst>
              <a:ext uri="{FF2B5EF4-FFF2-40B4-BE49-F238E27FC236}">
                <a16:creationId xmlns:a16="http://schemas.microsoft.com/office/drawing/2014/main" id="{4828447E-CC2F-BCA7-ED21-0B63289EB1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6FCA31-7DC7-B80C-8196-CCB2CF4910F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91452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B1B0-D5A6-A083-E837-E343ECC414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132E81-651C-A081-C36A-2C102D2162C1}"/>
              </a:ext>
            </a:extLst>
          </p:cNvPr>
          <p:cNvSpPr>
            <a:spLocks noGrp="1"/>
          </p:cNvSpPr>
          <p:nvPr>
            <p:ph type="dt" sz="half" idx="10"/>
          </p:nvPr>
        </p:nvSpPr>
        <p:spPr/>
        <p:txBody>
          <a:bodyPr/>
          <a:lstStyle/>
          <a:p>
            <a:fld id="{4B71B376-FF89-44E6-BB6A-DFFA3EEE8233}" type="datetime1">
              <a:rPr lang="en-US" smtClean="0"/>
              <a:t>3/23/2026</a:t>
            </a:fld>
            <a:endParaRPr lang="en-US"/>
          </a:p>
        </p:txBody>
      </p:sp>
      <p:sp>
        <p:nvSpPr>
          <p:cNvPr id="4" name="Footer Placeholder 3">
            <a:extLst>
              <a:ext uri="{FF2B5EF4-FFF2-40B4-BE49-F238E27FC236}">
                <a16:creationId xmlns:a16="http://schemas.microsoft.com/office/drawing/2014/main" id="{FE53045E-365F-2897-8F60-C6B9743643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D3BB0-96C4-B03D-F658-6D7D42CA59D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494645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6E5BB2-789D-A963-4374-BD1B26C5D18F}"/>
              </a:ext>
            </a:extLst>
          </p:cNvPr>
          <p:cNvSpPr>
            <a:spLocks noGrp="1"/>
          </p:cNvSpPr>
          <p:nvPr>
            <p:ph type="dt" sz="half" idx="10"/>
          </p:nvPr>
        </p:nvSpPr>
        <p:spPr/>
        <p:txBody>
          <a:bodyPr/>
          <a:lstStyle/>
          <a:p>
            <a:fld id="{A1542B4B-B097-4E56-8E67-ECE7877DDFD2}" type="datetime1">
              <a:rPr lang="en-US" smtClean="0"/>
              <a:t>3/23/2026</a:t>
            </a:fld>
            <a:endParaRPr lang="en-US"/>
          </a:p>
        </p:txBody>
      </p:sp>
      <p:sp>
        <p:nvSpPr>
          <p:cNvPr id="3" name="Footer Placeholder 2">
            <a:extLst>
              <a:ext uri="{FF2B5EF4-FFF2-40B4-BE49-F238E27FC236}">
                <a16:creationId xmlns:a16="http://schemas.microsoft.com/office/drawing/2014/main" id="{3BF2CAC2-E085-78CE-7BE5-446BBBBA18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B80DC7-119B-88A3-3125-83244762987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727457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6FD8-043D-1271-4FD8-B1CC2D1D6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99759-6CC6-2C30-BBEB-83CBAFDFF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EE585A-4571-F1F0-0499-463A980C5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DA0A2-94D4-C7CC-9F5B-C36F4FCA1694}"/>
              </a:ext>
            </a:extLst>
          </p:cNvPr>
          <p:cNvSpPr>
            <a:spLocks noGrp="1"/>
          </p:cNvSpPr>
          <p:nvPr>
            <p:ph type="dt" sz="half" idx="10"/>
          </p:nvPr>
        </p:nvSpPr>
        <p:spPr/>
        <p:txBody>
          <a:bodyPr/>
          <a:lstStyle/>
          <a:p>
            <a:fld id="{321FB5B8-495E-4487-BEB6-22DF53BB73D7}" type="datetime1">
              <a:rPr lang="en-US" smtClean="0"/>
              <a:t>3/23/2026</a:t>
            </a:fld>
            <a:endParaRPr lang="en-US"/>
          </a:p>
        </p:txBody>
      </p:sp>
      <p:sp>
        <p:nvSpPr>
          <p:cNvPr id="6" name="Footer Placeholder 5">
            <a:extLst>
              <a:ext uri="{FF2B5EF4-FFF2-40B4-BE49-F238E27FC236}">
                <a16:creationId xmlns:a16="http://schemas.microsoft.com/office/drawing/2014/main" id="{F4B58BA8-F8B8-83F6-1301-234DB02E7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0E65DE-7BFA-DA62-9B84-8E03D965ED9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63251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AAAD-1FCE-F895-EDB7-8E1238A0C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9F2322-C6E1-E87D-6BDC-D6DADC386A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02B28A-F013-0E17-E011-CF725AF64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EC82A-8E7D-0DE8-B45F-253D93F2974B}"/>
              </a:ext>
            </a:extLst>
          </p:cNvPr>
          <p:cNvSpPr>
            <a:spLocks noGrp="1"/>
          </p:cNvSpPr>
          <p:nvPr>
            <p:ph type="dt" sz="half" idx="10"/>
          </p:nvPr>
        </p:nvSpPr>
        <p:spPr/>
        <p:txBody>
          <a:bodyPr/>
          <a:lstStyle/>
          <a:p>
            <a:fld id="{F8859C98-76D9-4F50-83BD-6DCDA92B81F3}" type="datetime1">
              <a:rPr lang="en-US" smtClean="0"/>
              <a:t>3/23/2026</a:t>
            </a:fld>
            <a:endParaRPr lang="en-US"/>
          </a:p>
        </p:txBody>
      </p:sp>
      <p:sp>
        <p:nvSpPr>
          <p:cNvPr id="6" name="Footer Placeholder 5">
            <a:extLst>
              <a:ext uri="{FF2B5EF4-FFF2-40B4-BE49-F238E27FC236}">
                <a16:creationId xmlns:a16="http://schemas.microsoft.com/office/drawing/2014/main" id="{C3ED65E2-C35A-72A7-05F7-F621C2B21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19BAF-C86F-A3EE-B32E-8E5B045E4070}"/>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58233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407E-A242-1C2E-7DD7-C767D94402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A46C6D-C9C6-4563-9F83-E06DF7D784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1774B-8B86-278A-7EF8-B4157B05C57D}"/>
              </a:ext>
            </a:extLst>
          </p:cNvPr>
          <p:cNvSpPr>
            <a:spLocks noGrp="1"/>
          </p:cNvSpPr>
          <p:nvPr>
            <p:ph type="dt" sz="half" idx="10"/>
          </p:nvPr>
        </p:nvSpPr>
        <p:spPr/>
        <p:txBody>
          <a:bodyPr/>
          <a:lstStyle/>
          <a:p>
            <a:fld id="{5751C082-2D2E-4369-BBF2-1286676ECEE2}" type="datetime1">
              <a:rPr lang="en-US" smtClean="0"/>
              <a:t>3/23/2026</a:t>
            </a:fld>
            <a:endParaRPr lang="en-US"/>
          </a:p>
        </p:txBody>
      </p:sp>
      <p:sp>
        <p:nvSpPr>
          <p:cNvPr id="5" name="Footer Placeholder 4">
            <a:extLst>
              <a:ext uri="{FF2B5EF4-FFF2-40B4-BE49-F238E27FC236}">
                <a16:creationId xmlns:a16="http://schemas.microsoft.com/office/drawing/2014/main" id="{8DDF2AAB-D0B7-DB24-5F3F-5DDA932F4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B039D-7797-567B-51AE-A783FB654B14}"/>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5326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02D9F8-9453-27F4-4665-3C6C06F094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DE82A-43C4-24B7-90BD-0BE9C2872C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4BCC4-F4E7-7368-2BE5-563E46805CFA}"/>
              </a:ext>
            </a:extLst>
          </p:cNvPr>
          <p:cNvSpPr>
            <a:spLocks noGrp="1"/>
          </p:cNvSpPr>
          <p:nvPr>
            <p:ph type="dt" sz="half" idx="10"/>
          </p:nvPr>
        </p:nvSpPr>
        <p:spPr/>
        <p:txBody>
          <a:bodyPr/>
          <a:lstStyle/>
          <a:p>
            <a:fld id="{C0D982C9-26E1-4D8F-BFAA-70496DC547E8}" type="datetime1">
              <a:rPr lang="en-US" smtClean="0"/>
              <a:t>3/23/2026</a:t>
            </a:fld>
            <a:endParaRPr lang="en-US"/>
          </a:p>
        </p:txBody>
      </p:sp>
      <p:sp>
        <p:nvSpPr>
          <p:cNvPr id="5" name="Footer Placeholder 4">
            <a:extLst>
              <a:ext uri="{FF2B5EF4-FFF2-40B4-BE49-F238E27FC236}">
                <a16:creationId xmlns:a16="http://schemas.microsoft.com/office/drawing/2014/main" id="{9A64B331-FF8D-F00B-EC01-08E191BC7D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1F4EB-8993-02EE-E725-E439A61035F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56877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89E9D-406E-AED0-62E1-1D3E976FAC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C5FCEC-69C0-040D-78F3-D9F581A54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8F6A3-D9C5-1FFB-3440-535EC453C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66460D-E355-4FA1-88B8-DB5E71A87C70}" type="datetime1">
              <a:rPr lang="en-US" smtClean="0"/>
              <a:t>3/23/2026</a:t>
            </a:fld>
            <a:endParaRPr lang="en-US"/>
          </a:p>
        </p:txBody>
      </p:sp>
      <p:sp>
        <p:nvSpPr>
          <p:cNvPr id="5" name="Footer Placeholder 4">
            <a:extLst>
              <a:ext uri="{FF2B5EF4-FFF2-40B4-BE49-F238E27FC236}">
                <a16:creationId xmlns:a16="http://schemas.microsoft.com/office/drawing/2014/main" id="{9C638BA6-5EC0-D741-9EBC-77C5601AE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93ED57-03D5-A76D-A2B4-C89354A474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2CF24B-AFC1-4E9A-A5EA-281CA027E13D}" type="slidenum">
              <a:rPr lang="en-US" smtClean="0"/>
              <a:t>‹#›</a:t>
            </a:fld>
            <a:endParaRPr lang="en-US"/>
          </a:p>
        </p:txBody>
      </p:sp>
    </p:spTree>
    <p:extLst>
      <p:ext uri="{BB962C8B-B14F-4D97-AF65-F5344CB8AC3E}">
        <p14:creationId xmlns:p14="http://schemas.microsoft.com/office/powerpoint/2010/main" val="2820556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colab.research.google.com/github/cyneuro/Chapter_Colabs/blob/main/Colab_D.ipynb"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6D650F9E-E20D-0E94-09E5-7C45C205E7A4}"/>
                  </a:ext>
                </a:extLst>
              </p:cNvPr>
              <p:cNvSpPr>
                <a:spLocks noChangeArrowheads="1"/>
              </p:cNvSpPr>
              <p:nvPr/>
            </p:nvSpPr>
            <p:spPr bwMode="auto">
              <a:xfrm>
                <a:off x="407299" y="143485"/>
                <a:ext cx="10889182" cy="65710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Ls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tab pos="171450" algn="l"/>
                  </a:tabLst>
                </a:pPr>
                <a:r>
                  <a:rPr lang="en-US" altLang="en-US" sz="2000" b="1" dirty="0">
                    <a:solidFill>
                      <a:srgbClr val="0070C0"/>
                    </a:solidFill>
                    <a:latin typeface="+mn-lt"/>
                    <a:ea typeface="Times New Roman" panose="02020603050405020304" pitchFamily="18" charset="0"/>
                    <a:cs typeface="Times New Roman" panose="02020603050405020304" pitchFamily="18" charset="0"/>
                  </a:rPr>
                  <a:t>D. SPIKING, ADAPTATION, AND BURSTING</a:t>
                </a:r>
                <a:endParaRPr kumimoji="0" lang="en-US" altLang="en-US" sz="2000" b="1" i="0" u="none" strike="noStrike" cap="none" normalizeH="0" baseline="0" dirty="0">
                  <a:ln>
                    <a:noFill/>
                  </a:ln>
                  <a:solidFill>
                    <a:srgbClr val="0070C0"/>
                  </a:solidFill>
                  <a:effectLst/>
                  <a:latin typeface="+mn-lt"/>
                  <a:ea typeface="Times New Roman" panose="02020603050405020304" pitchFamily="18"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AutoNum type="alphaUcPeriod"/>
                  <a:tabLst>
                    <a:tab pos="171450" algn="l"/>
                  </a:tabLst>
                </a:pPr>
                <a:endParaRPr kumimoji="0" lang="en-US" altLang="en-US" sz="500"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r>
                  <a:rPr lang="en-US" sz="1700" i="1" dirty="0">
                    <a:latin typeface="+mn-lt"/>
                  </a:rPr>
                  <a:t>Adaptation and its surrogates</a:t>
                </a:r>
                <a:r>
                  <a:rPr lang="en-US" sz="1700" dirty="0">
                    <a:latin typeface="+mn-lt"/>
                  </a:rPr>
                  <a:t>. Many neurons reduce firing rate during sustained depolarization; mechanistically this can arise from slow outward currents (e.g., M‑type K⁺) or Ca²⁺‑dependent K⁺ conductances. Without committing to specific channel models in an instructional setting, one can emulate the effect via a slow inhibitory drive that gradually increases during the step, thereby stretching inter‑spike intervals (ISIs) over time. This provides a convenient handle, separate from fast spike generation, to quantify adaptation with simple metrics (e.g., </a:t>
                </a:r>
                <a14:m>
                  <m:oMath xmlns:m="http://schemas.openxmlformats.org/officeDocument/2006/math">
                    <m:sSub>
                      <m:sSubPr>
                        <m:ctrlPr>
                          <a:rPr lang="en-US" sz="1700" i="1">
                            <a:latin typeface="Cambria Math" panose="02040503050406030204" pitchFamily="18" charset="0"/>
                          </a:rPr>
                        </m:ctrlPr>
                      </m:sSubPr>
                      <m:e>
                        <m:r>
                          <m:rPr>
                            <m:nor/>
                          </m:rPr>
                          <a:rPr lang="en-US" sz="1700">
                            <a:latin typeface="+mn-lt"/>
                          </a:rPr>
                          <m:t>ISI</m:t>
                        </m:r>
                      </m:e>
                      <m:sub>
                        <m:r>
                          <a:rPr lang="en-US" sz="1700" i="1">
                            <a:latin typeface="Cambria Math" panose="02040503050406030204" pitchFamily="18" charset="0"/>
                          </a:rPr>
                          <m:t>1</m:t>
                        </m:r>
                      </m:sub>
                    </m:sSub>
                    <m:r>
                      <a:rPr lang="en-US" sz="1700">
                        <a:latin typeface="Cambria Math" panose="02040503050406030204" pitchFamily="18" charset="0"/>
                      </a:rPr>
                      <m:t>/</m:t>
                    </m:r>
                    <m:sSub>
                      <m:sSubPr>
                        <m:ctrlPr>
                          <a:rPr lang="en-US" sz="1700" i="1">
                            <a:latin typeface="Cambria Math" panose="02040503050406030204" pitchFamily="18" charset="0"/>
                          </a:rPr>
                        </m:ctrlPr>
                      </m:sSubPr>
                      <m:e>
                        <m:r>
                          <m:rPr>
                            <m:nor/>
                          </m:rPr>
                          <a:rPr lang="en-US" sz="1700">
                            <a:latin typeface="+mn-lt"/>
                          </a:rPr>
                          <m:t>ISI</m:t>
                        </m:r>
                      </m:e>
                      <m:sub>
                        <m:r>
                          <a:rPr lang="en-US" sz="1700" i="1">
                            <a:latin typeface="Cambria Math" panose="02040503050406030204" pitchFamily="18" charset="0"/>
                          </a:rPr>
                          <m:t>5</m:t>
                        </m:r>
                      </m:sub>
                    </m:sSub>
                  </m:oMath>
                </a14:m>
                <a:r>
                  <a:rPr lang="en-US" sz="1700" dirty="0">
                    <a:latin typeface="+mn-lt"/>
                  </a:rPr>
                  <a:t>, last/first rate ratio) and to reason about how adaptation reshapes the transfer of information from synaptic input to spikes.</a:t>
                </a:r>
              </a:p>
              <a:p>
                <a:r>
                  <a:rPr lang="en-US" sz="1700" i="1" dirty="0">
                    <a:latin typeface="+mn-lt"/>
                  </a:rPr>
                  <a:t>Bursting and slow envelopes</a:t>
                </a:r>
                <a:r>
                  <a:rPr lang="en-US" sz="1700" dirty="0">
                    <a:latin typeface="+mn-lt"/>
                  </a:rPr>
                  <a:t>. Bursting requires an interaction between fast spiking and a slower modulatory variable that periodically promotes and suppresses excitability. In the classroom, a pragmatic way to illustrate bursting‑like bouts is to impose a slow envelope on the depolarizing drive so that firing waxes and wanes in a stereotyped pattern. Students can then connect burst onset and inter‑burst interval to the slow variable’s timescale, while using the HH spike to preserve mechanistic credibility at the waveform level. The same analyses - latency trends, spike grouping, rate envelopes, help distinguish adapting tonic responses from bursting dynamics and anchor the conceptual link between timescales and qualitative firing regimes.</a:t>
                </a:r>
              </a:p>
              <a:p>
                <a:r>
                  <a:rPr lang="en-US" sz="1700" i="1" dirty="0">
                    <a:latin typeface="+mn-lt"/>
                  </a:rPr>
                  <a:t>Integrating passive and active mechanisms</a:t>
                </a:r>
                <a:r>
                  <a:rPr lang="en-US" sz="1700" dirty="0">
                    <a:latin typeface="+mn-lt"/>
                  </a:rPr>
                  <a:t>. The passive‑first‑then‑spike sequence ensures that departures from passive predictions (e.g., latency compression near threshold, refractory‑limited maximum rates, adaptation‑induced rate decay) are attributed to explicit active mechanisms, not unknown baselines. This makes it straightforward to carry the same variables and metrics forward - into circuit motifs, temporal precision problems, and minimal network computations, without losing the line of argument from cellular mechanism to computational role. </a:t>
                </a:r>
              </a:p>
              <a:p>
                <a:r>
                  <a:rPr lang="en-US" altLang="en-US" sz="1700" u="sng" dirty="0">
                    <a:latin typeface="+mn-lt"/>
                    <a:ea typeface="Times New Roman" panose="02020603050405020304" pitchFamily="18" charset="0"/>
                    <a:cs typeface="Times New Roman" panose="02020603050405020304" pitchFamily="18" charset="0"/>
                  </a:rPr>
                  <a:t>Getting started</a:t>
                </a:r>
                <a:r>
                  <a:rPr lang="en-US" altLang="en-US" sz="1700" dirty="0">
                    <a:latin typeface="+mn-lt"/>
                    <a:ea typeface="Times New Roman" panose="02020603050405020304" pitchFamily="18" charset="0"/>
                    <a:cs typeface="Times New Roman" panose="02020603050405020304" pitchFamily="18" charset="0"/>
                  </a:rPr>
                  <a:t>: Click on the following link - </a:t>
                </a:r>
                <a:r>
                  <a:rPr lang="en-US" u="sng">
                    <a:hlinkClick r:id="rId2"/>
                  </a:rPr>
                  <a:t>Colab_D</a:t>
                </a:r>
                <a:r>
                  <a:rPr lang="en-US" altLang="en-US" sz="1700">
                    <a:latin typeface="+mn-lt"/>
                    <a:ea typeface="Times New Roman" panose="02020603050405020304" pitchFamily="18" charset="0"/>
                    <a:cs typeface="Times New Roman" panose="02020603050405020304" pitchFamily="18" charset="0"/>
                  </a:rPr>
                  <a:t> and </a:t>
                </a:r>
                <a:r>
                  <a:rPr lang="en-US" altLang="en-US" sz="1700" dirty="0">
                    <a:latin typeface="+mn-lt"/>
                    <a:ea typeface="Times New Roman" panose="02020603050405020304" pitchFamily="18" charset="0"/>
                    <a:cs typeface="Times New Roman" panose="02020603050405020304" pitchFamily="18" charset="0"/>
                  </a:rPr>
                  <a:t>complete the sequentially arranged hand-on learning - generating AI prompts for explanations and complete the exercises at the end.</a:t>
                </a:r>
              </a:p>
              <a:p>
                <a:endParaRPr lang="en-US" altLang="en-US" sz="500" dirty="0">
                  <a:latin typeface="+mn-lt"/>
                  <a:cs typeface="Times New Roman" panose="02020603050405020304" pitchFamily="18" charset="0"/>
                </a:endParaRPr>
              </a:p>
              <a:p>
                <a:r>
                  <a:rPr lang="en-US" altLang="en-US" sz="1700" u="sng" dirty="0">
                    <a:latin typeface="+mn-lt"/>
                    <a:cs typeface="Times New Roman" panose="02020603050405020304" pitchFamily="18" charset="0"/>
                  </a:rPr>
                  <a:t>A set of slides are provided to get started - the learner is encouraged to add more as appropriate.</a:t>
                </a:r>
                <a:endParaRPr lang="en-US" altLang="en-US" sz="1700" u="sng" dirty="0">
                  <a:latin typeface="+mn-lt"/>
                </a:endParaRPr>
              </a:p>
            </p:txBody>
          </p:sp>
        </mc:Choice>
        <mc:Fallback>
          <p:sp>
            <p:nvSpPr>
              <p:cNvPr id="3" name="Rectangle 2">
                <a:extLst>
                  <a:ext uri="{FF2B5EF4-FFF2-40B4-BE49-F238E27FC236}">
                    <a16:creationId xmlns:a16="http://schemas.microsoft.com/office/drawing/2014/main" id="{6D650F9E-E20D-0E94-09E5-7C45C205E7A4}"/>
                  </a:ext>
                </a:extLst>
              </p:cNvPr>
              <p:cNvSpPr>
                <a:spLocks noRot="1" noChangeAspect="1" noMove="1" noResize="1" noEditPoints="1" noAdjustHandles="1" noChangeArrowheads="1" noChangeShapeType="1" noTextEdit="1"/>
              </p:cNvSpPr>
              <p:nvPr/>
            </p:nvSpPr>
            <p:spPr bwMode="auto">
              <a:xfrm>
                <a:off x="407299" y="143485"/>
                <a:ext cx="10889182" cy="6571030"/>
              </a:xfrm>
              <a:prstGeom prst="rect">
                <a:avLst/>
              </a:prstGeom>
              <a:blipFill>
                <a:blip r:embed="rId3"/>
                <a:stretch>
                  <a:fillRect l="-392" t="-186" r="-728" b="-92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93688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B1748E-1251-FBC2-DAD5-783A4BA8FD4D}"/>
              </a:ext>
            </a:extLst>
          </p:cNvPr>
          <p:cNvSpPr txBox="1"/>
          <p:nvPr/>
        </p:nvSpPr>
        <p:spPr>
          <a:xfrm>
            <a:off x="566442" y="151179"/>
            <a:ext cx="10794775" cy="5155257"/>
          </a:xfrm>
          <a:prstGeom prst="rect">
            <a:avLst/>
          </a:prstGeom>
          <a:noFill/>
        </p:spPr>
        <p:txBody>
          <a:bodyPr wrap="square" rtlCol="0">
            <a:spAutoFit/>
          </a:bodyPr>
          <a:lstStyle/>
          <a:p>
            <a:endParaRPr lang="en-US" sz="700" i="1" dirty="0"/>
          </a:p>
          <a:p>
            <a:endParaRPr lang="en-US" dirty="0"/>
          </a:p>
          <a:p>
            <a:r>
              <a:rPr lang="en-US" b="1" dirty="0"/>
              <a:t>B1. Membrane as Capacitor + Leak as Resistor</a:t>
            </a:r>
            <a:br>
              <a:rPr lang="en-US" dirty="0"/>
            </a:br>
            <a:r>
              <a:rPr lang="en-US" dirty="0"/>
              <a:t>The bilayer stores charge (</a:t>
            </a:r>
            <a:r>
              <a:rPr lang="en-US" b="1" dirty="0"/>
              <a:t>capacitance</a:t>
            </a:r>
            <a:r>
              <a:rPr lang="en-US" dirty="0"/>
              <a:t>), while leak </a:t>
            </a:r>
          </a:p>
          <a:p>
            <a:r>
              <a:rPr lang="en-US" dirty="0"/>
              <a:t>channels provide </a:t>
            </a:r>
            <a:r>
              <a:rPr lang="en-US" b="1" dirty="0"/>
              <a:t>conductive paths</a:t>
            </a:r>
            <a:r>
              <a:rPr lang="en-US" dirty="0"/>
              <a:t>. </a:t>
            </a:r>
          </a:p>
          <a:p>
            <a:r>
              <a:rPr lang="en-US" dirty="0"/>
              <a:t>Together they produce </a:t>
            </a:r>
            <a:r>
              <a:rPr lang="en-US" b="1" dirty="0"/>
              <a:t>RC‑like</a:t>
            </a:r>
            <a:r>
              <a:rPr lang="en-US" dirty="0"/>
              <a:t> voltage time courses.</a:t>
            </a:r>
          </a:p>
          <a:p>
            <a:r>
              <a:rPr lang="en-US" b="1" dirty="0"/>
              <a:t>Self‑learning prompt: </a:t>
            </a:r>
            <a:r>
              <a:rPr lang="en-US" dirty="0"/>
              <a:t>Using everyday analogies, explain why </a:t>
            </a:r>
          </a:p>
          <a:p>
            <a:r>
              <a:rPr lang="en-US" dirty="0"/>
              <a:t>membranes have capacitance and how leak affects voltage </a:t>
            </a:r>
          </a:p>
          <a:p>
            <a:r>
              <a:rPr lang="en-US" dirty="0"/>
              <a:t>over time. Predict the qualitative shape of V(t) to a small </a:t>
            </a:r>
          </a:p>
          <a:p>
            <a:r>
              <a:rPr lang="en-US" dirty="0"/>
              <a:t>current step.</a:t>
            </a:r>
            <a:br>
              <a:rPr lang="en-US" dirty="0"/>
            </a:br>
            <a:endParaRPr lang="en-US" dirty="0"/>
          </a:p>
          <a:p>
            <a:r>
              <a:rPr lang="en-US" b="1" dirty="0"/>
              <a:t>B2. Ion Gradients as Batteries — Nernst Potentials</a:t>
            </a:r>
            <a:endParaRPr lang="en-US" dirty="0"/>
          </a:p>
          <a:p>
            <a:r>
              <a:rPr lang="en-US" dirty="0"/>
              <a:t>Each ion’s gradient corresponds to a </a:t>
            </a:r>
            <a:r>
              <a:rPr lang="en-US" b="1" dirty="0"/>
              <a:t>reversal potential</a:t>
            </a:r>
            <a:r>
              <a:rPr lang="en-US" dirty="0"/>
              <a:t> </a:t>
            </a:r>
          </a:p>
          <a:p>
            <a:r>
              <a:rPr lang="en-US" dirty="0"/>
              <a:t>via Nernst. Channel selectivity ties ion flow to </a:t>
            </a:r>
            <a:r>
              <a:rPr lang="en-US" b="1" dirty="0"/>
              <a:t>driving force</a:t>
            </a:r>
            <a:endParaRPr lang="en-US" dirty="0"/>
          </a:p>
          <a:p>
            <a:r>
              <a:rPr lang="en-US" b="1" dirty="0"/>
              <a:t>Self‑learning prompt: </a:t>
            </a:r>
            <a:r>
              <a:rPr lang="en-US" dirty="0"/>
              <a:t>Compute E_K and </a:t>
            </a:r>
            <a:r>
              <a:rPr lang="en-US" dirty="0" err="1"/>
              <a:t>E_Na</a:t>
            </a:r>
            <a:r>
              <a:rPr lang="en-US" dirty="0"/>
              <a:t> from given </a:t>
            </a:r>
          </a:p>
          <a:p>
            <a:r>
              <a:rPr lang="en-US" dirty="0"/>
              <a:t>concentrations. Explain how changing internal K⁺ or external</a:t>
            </a:r>
          </a:p>
          <a:p>
            <a:r>
              <a:rPr lang="en-US" dirty="0"/>
              <a:t>Na⁺ shifts the corresponding Nernst potentials.</a:t>
            </a:r>
          </a:p>
          <a:p>
            <a:endParaRPr lang="en-US" dirty="0"/>
          </a:p>
          <a:p>
            <a:endParaRPr lang="en-US" sz="1600" dirty="0"/>
          </a:p>
        </p:txBody>
      </p:sp>
      <p:pic>
        <p:nvPicPr>
          <p:cNvPr id="3" name="Picture 2">
            <a:extLst>
              <a:ext uri="{FF2B5EF4-FFF2-40B4-BE49-F238E27FC236}">
                <a16:creationId xmlns:a16="http://schemas.microsoft.com/office/drawing/2014/main" id="{DFB715A5-5ED3-6BA1-F7AE-DCEE115CC29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00879" y="1056898"/>
            <a:ext cx="4735990" cy="2503598"/>
          </a:xfrm>
          <a:prstGeom prst="rect">
            <a:avLst/>
          </a:prstGeom>
          <a:noFill/>
          <a:ln>
            <a:noFill/>
          </a:ln>
        </p:spPr>
      </p:pic>
      <p:pic>
        <p:nvPicPr>
          <p:cNvPr id="6" name="Picture 5">
            <a:extLst>
              <a:ext uri="{FF2B5EF4-FFF2-40B4-BE49-F238E27FC236}">
                <a16:creationId xmlns:a16="http://schemas.microsoft.com/office/drawing/2014/main" id="{626D5BD8-F224-ED0A-68DC-3E4635CB5F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43656" y="3595034"/>
            <a:ext cx="3211254" cy="2339738"/>
          </a:xfrm>
          <a:prstGeom prst="rect">
            <a:avLst/>
          </a:prstGeom>
          <a:noFill/>
          <a:ln>
            <a:noFill/>
          </a:ln>
        </p:spPr>
      </p:pic>
    </p:spTree>
    <p:extLst>
      <p:ext uri="{BB962C8B-B14F-4D97-AF65-F5344CB8AC3E}">
        <p14:creationId xmlns:p14="http://schemas.microsoft.com/office/powerpoint/2010/main" val="176420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7587-138B-1AE7-A856-407A95C613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076A1F-4422-5497-47F1-3DC86BF2915D}"/>
              </a:ext>
            </a:extLst>
          </p:cNvPr>
          <p:cNvSpPr txBox="1"/>
          <p:nvPr/>
        </p:nvSpPr>
        <p:spPr>
          <a:xfrm>
            <a:off x="339865" y="197346"/>
            <a:ext cx="10794775" cy="6463308"/>
          </a:xfrm>
          <a:prstGeom prst="rect">
            <a:avLst/>
          </a:prstGeom>
          <a:noFill/>
        </p:spPr>
        <p:txBody>
          <a:bodyPr wrap="square" rtlCol="0">
            <a:spAutoFit/>
          </a:bodyPr>
          <a:lstStyle/>
          <a:p>
            <a:r>
              <a:rPr lang="en-US" b="1" dirty="0"/>
              <a:t>B3. Multiple Ions — Goldman–Hodgkin–Katz (GHK) and Resting Potential</a:t>
            </a:r>
            <a:endParaRPr lang="en-US" dirty="0"/>
          </a:p>
          <a:p>
            <a:r>
              <a:rPr lang="en-US" dirty="0"/>
              <a:t>With several permeant ions, resting V depends on </a:t>
            </a:r>
            <a:r>
              <a:rPr lang="en-US" b="1" dirty="0"/>
              <a:t>relative permeabilities</a:t>
            </a:r>
            <a:r>
              <a:rPr lang="en-US" dirty="0"/>
              <a:t> (P_K, </a:t>
            </a:r>
            <a:r>
              <a:rPr lang="en-US" dirty="0" err="1"/>
              <a:t>P_Na</a:t>
            </a:r>
            <a:r>
              <a:rPr lang="en-US" dirty="0"/>
              <a:t>, </a:t>
            </a:r>
            <a:r>
              <a:rPr lang="en-US" dirty="0" err="1"/>
              <a:t>P_Cl</a:t>
            </a:r>
            <a:r>
              <a:rPr lang="en-US" dirty="0"/>
              <a:t>), not just concentrations.</a:t>
            </a:r>
          </a:p>
          <a:p>
            <a:r>
              <a:rPr lang="en-US" b="1" dirty="0"/>
              <a:t>Self‑learning prompt:</a:t>
            </a:r>
          </a:p>
          <a:p>
            <a:r>
              <a:rPr lang="en-US" dirty="0"/>
              <a:t>Explain how changing </a:t>
            </a:r>
          </a:p>
          <a:p>
            <a:r>
              <a:rPr lang="en-US" dirty="0"/>
              <a:t>P_K/</a:t>
            </a:r>
            <a:r>
              <a:rPr lang="en-US" dirty="0" err="1"/>
              <a:t>P_Na</a:t>
            </a:r>
            <a:r>
              <a:rPr lang="en-US" dirty="0"/>
              <a:t> moves the </a:t>
            </a:r>
          </a:p>
          <a:p>
            <a:r>
              <a:rPr lang="en-US" dirty="0"/>
              <a:t>resting potential. </a:t>
            </a:r>
          </a:p>
          <a:p>
            <a:r>
              <a:rPr lang="en-US" dirty="0"/>
              <a:t>Provide a qualitative </a:t>
            </a:r>
          </a:p>
          <a:p>
            <a:r>
              <a:rPr lang="en-US" dirty="0"/>
              <a:t>graph showing resting </a:t>
            </a:r>
          </a:p>
          <a:p>
            <a:r>
              <a:rPr lang="en-US" dirty="0"/>
              <a:t>V as P_K increases.</a:t>
            </a:r>
            <a:br>
              <a:rPr lang="en-US" dirty="0"/>
            </a:br>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B4. Voltage‑Gated Channels — Activation &amp; Inactivation (m, h, n) </a:t>
            </a:r>
            <a:r>
              <a:rPr lang="en-US" dirty="0"/>
              <a:t>Na⁺ channels: </a:t>
            </a:r>
            <a:r>
              <a:rPr lang="en-US" b="1" dirty="0"/>
              <a:t>activation (m)</a:t>
            </a:r>
            <a:r>
              <a:rPr lang="en-US" dirty="0"/>
              <a:t> and </a:t>
            </a:r>
            <a:r>
              <a:rPr lang="en-US" b="1" dirty="0"/>
              <a:t>inactivation (h)</a:t>
            </a:r>
            <a:r>
              <a:rPr lang="en-US" dirty="0"/>
              <a:t>; K⁺: </a:t>
            </a:r>
            <a:r>
              <a:rPr lang="en-US" b="1" dirty="0"/>
              <a:t>activation (n)</a:t>
            </a:r>
            <a:r>
              <a:rPr lang="en-US" dirty="0"/>
              <a:t>. Their voltage dependence creates spikes via positive and negative </a:t>
            </a:r>
          </a:p>
          <a:p>
            <a:r>
              <a:rPr lang="en-US" dirty="0"/>
              <a:t>feedback loops.</a:t>
            </a:r>
          </a:p>
          <a:p>
            <a:r>
              <a:rPr lang="en-US" b="1" dirty="0"/>
              <a:t>Self‑learning prompt: </a:t>
            </a:r>
            <a:r>
              <a:rPr lang="en-US" dirty="0"/>
              <a:t>Describe how m, h, and n change with depolarization and how that sequence produces an action potential’s rise and fall.</a:t>
            </a:r>
          </a:p>
        </p:txBody>
      </p:sp>
      <p:pic>
        <p:nvPicPr>
          <p:cNvPr id="3" name="Picture 2">
            <a:extLst>
              <a:ext uri="{FF2B5EF4-FFF2-40B4-BE49-F238E27FC236}">
                <a16:creationId xmlns:a16="http://schemas.microsoft.com/office/drawing/2014/main" id="{D067717B-1F81-D52A-427A-5B891C2C69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85110" y="903484"/>
            <a:ext cx="2853736" cy="2079248"/>
          </a:xfrm>
          <a:prstGeom prst="rect">
            <a:avLst/>
          </a:prstGeom>
          <a:noFill/>
          <a:ln>
            <a:noFill/>
          </a:ln>
        </p:spPr>
      </p:pic>
      <p:pic>
        <p:nvPicPr>
          <p:cNvPr id="5" name="Picture 4">
            <a:extLst>
              <a:ext uri="{FF2B5EF4-FFF2-40B4-BE49-F238E27FC236}">
                <a16:creationId xmlns:a16="http://schemas.microsoft.com/office/drawing/2014/main" id="{FD1AC796-D4CD-200A-8E5B-F8E32F9A16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53" y="2982732"/>
            <a:ext cx="1838582" cy="2000529"/>
          </a:xfrm>
          <a:prstGeom prst="rect">
            <a:avLst/>
          </a:prstGeom>
        </p:spPr>
      </p:pic>
      <p:pic>
        <p:nvPicPr>
          <p:cNvPr id="7" name="Picture 6">
            <a:extLst>
              <a:ext uri="{FF2B5EF4-FFF2-40B4-BE49-F238E27FC236}">
                <a16:creationId xmlns:a16="http://schemas.microsoft.com/office/drawing/2014/main" id="{8C0E08D3-26FF-216E-D624-0BEBA288DBE3}"/>
              </a:ext>
            </a:extLst>
          </p:cNvPr>
          <p:cNvPicPr>
            <a:picLocks noChangeAspect="1"/>
          </p:cNvPicPr>
          <p:nvPr/>
        </p:nvPicPr>
        <p:blipFill>
          <a:blip r:embed="rId4"/>
          <a:srcRect r="5400"/>
          <a:stretch>
            <a:fillRect/>
          </a:stretch>
        </p:blipFill>
        <p:spPr>
          <a:xfrm>
            <a:off x="2837941" y="821314"/>
            <a:ext cx="5965965" cy="4322835"/>
          </a:xfrm>
          <a:prstGeom prst="rect">
            <a:avLst/>
          </a:prstGeom>
        </p:spPr>
      </p:pic>
    </p:spTree>
    <p:extLst>
      <p:ext uri="{BB962C8B-B14F-4D97-AF65-F5344CB8AC3E}">
        <p14:creationId xmlns:p14="http://schemas.microsoft.com/office/powerpoint/2010/main" val="4012667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292BF-FDEC-1E64-D99D-A06C17D382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8A91C0-E6C9-7CEF-787D-B020B3536961}"/>
                  </a:ext>
                </a:extLst>
              </p:cNvPr>
              <p:cNvSpPr txBox="1"/>
              <p:nvPr/>
            </p:nvSpPr>
            <p:spPr>
              <a:xfrm>
                <a:off x="566442" y="151179"/>
                <a:ext cx="10794775" cy="5047536"/>
              </a:xfrm>
              <a:prstGeom prst="rect">
                <a:avLst/>
              </a:prstGeom>
              <a:noFill/>
            </p:spPr>
            <p:txBody>
              <a:bodyPr wrap="square" rtlCol="0">
                <a:spAutoFit/>
              </a:bodyPr>
              <a:lstStyle/>
              <a:p>
                <a:r>
                  <a:rPr lang="en-US" b="1" dirty="0"/>
                  <a:t>B5. Pumps as ‘Rechargers’ — Gradient Maintenance</a:t>
                </a:r>
                <a:br>
                  <a:rPr lang="en-US" dirty="0"/>
                </a:br>
                <a:r>
                  <a:rPr lang="en-US" dirty="0"/>
                  <a:t>Pumps minimally shift V in the short term but </a:t>
                </a:r>
                <a:r>
                  <a:rPr lang="en-US" b="1" dirty="0"/>
                  <a:t>sustain gradients</a:t>
                </a:r>
                <a:r>
                  <a:rPr lang="en-US" dirty="0"/>
                  <a:t> critical for long‑term excitability and recovery.</a:t>
                </a:r>
              </a:p>
              <a:p>
                <a:r>
                  <a:rPr lang="en-US" b="1" dirty="0"/>
                  <a:t>Self‑learning prompt</a:t>
                </a:r>
                <a:br>
                  <a:rPr lang="en-US" dirty="0"/>
                </a:br>
                <a:r>
                  <a:rPr lang="en-US" dirty="0"/>
                  <a:t>“Explain why blocking the Na⁺/K⁺ pump gradually alters excitability over minutes to hours rather than instantly.”</a:t>
                </a:r>
              </a:p>
              <a:p>
                <a:br>
                  <a:rPr lang="en-US" dirty="0"/>
                </a:br>
                <a:endParaRPr lang="en-US" dirty="0"/>
              </a:p>
              <a:p>
                <a:r>
                  <a:rPr lang="en-US" b="1" dirty="0"/>
                  <a:t>B6. Time Constant (τ) — Temporal Filtering</a:t>
                </a:r>
                <a:endParaRPr lang="en-US" dirty="0"/>
              </a:p>
              <a:p>
                <a:r>
                  <a:rPr lang="en-US" b="1" dirty="0"/>
                  <a:t>IMAGE INSERT HERE — “Exponential Voltage Relaxation Plot”</a:t>
                </a:r>
                <a:br>
                  <a:rPr lang="en-US" dirty="0"/>
                </a:br>
                <a:r>
                  <a:rPr lang="en-US" i="1" dirty="0"/>
                  <a:t>Alt‑text:</a:t>
                </a:r>
                <a:r>
                  <a:rPr lang="en-US" dirty="0"/>
                  <a:t> “Exponential charging/relaxation curve.”</a:t>
                </a:r>
              </a:p>
              <a:p>
                <a:r>
                  <a:rPr lang="en-US" b="1" dirty="0"/>
                  <a:t>Core text</a:t>
                </a:r>
                <a:br>
                  <a:rPr lang="en-US" dirty="0"/>
                </a:br>
                <a14:m>
                  <m:oMath xmlns:m="http://schemas.openxmlformats.org/officeDocument/2006/math">
                    <m:r>
                      <a:rPr lang="en-US" i="1">
                        <a:latin typeface="Cambria Math" panose="02040503050406030204" pitchFamily="18" charset="0"/>
                      </a:rPr>
                      <m:t>𝜏</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𝑚</m:t>
                        </m:r>
                      </m:sub>
                    </m:sSub>
                  </m:oMath>
                </a14:m>
                <a:r>
                  <a:rPr lang="en-US" dirty="0"/>
                  <a:t>sets how quickly the membrane voltage changes to inputs.</a:t>
                </a:r>
              </a:p>
              <a:p>
                <a:r>
                  <a:rPr lang="en-US" b="1" dirty="0"/>
                  <a:t>Self‑learning prompt</a:t>
                </a:r>
                <a:br>
                  <a:rPr lang="en-US" dirty="0"/>
                </a:br>
                <a:r>
                  <a:rPr lang="en-US" dirty="0"/>
                  <a:t>“Predict how doubling membrane capacitance changes the time course of a small voltage response. Explain why.”</a:t>
                </a:r>
              </a:p>
              <a:p>
                <a:endParaRPr lang="en-US" dirty="0"/>
              </a:p>
              <a:p>
                <a:endParaRPr lang="en-US" sz="1600" dirty="0"/>
              </a:p>
            </p:txBody>
          </p:sp>
        </mc:Choice>
        <mc:Fallback xmlns="">
          <p:sp>
            <p:nvSpPr>
              <p:cNvPr id="4" name="TextBox 3">
                <a:extLst>
                  <a:ext uri="{FF2B5EF4-FFF2-40B4-BE49-F238E27FC236}">
                    <a16:creationId xmlns:a16="http://schemas.microsoft.com/office/drawing/2014/main" id="{7C8A91C0-E6C9-7CEF-787D-B020B3536961}"/>
                  </a:ext>
                </a:extLst>
              </p:cNvPr>
              <p:cNvSpPr txBox="1">
                <a:spLocks noRot="1" noChangeAspect="1" noMove="1" noResize="1" noEditPoints="1" noAdjustHandles="1" noChangeArrowheads="1" noChangeShapeType="1" noTextEdit="1"/>
              </p:cNvSpPr>
              <p:nvPr/>
            </p:nvSpPr>
            <p:spPr>
              <a:xfrm>
                <a:off x="566442" y="151179"/>
                <a:ext cx="10794775" cy="5047536"/>
              </a:xfrm>
              <a:prstGeom prst="rect">
                <a:avLst/>
              </a:prstGeom>
              <a:blipFill>
                <a:blip r:embed="rId2"/>
                <a:stretch>
                  <a:fillRect l="-508" t="-604" r="-508"/>
                </a:stretch>
              </a:blipFill>
            </p:spPr>
            <p:txBody>
              <a:bodyPr/>
              <a:lstStyle/>
              <a:p>
                <a:r>
                  <a:rPr lang="en-US">
                    <a:noFill/>
                  </a:rPr>
                  <a:t> </a:t>
                </a:r>
              </a:p>
            </p:txBody>
          </p:sp>
        </mc:Fallback>
      </mc:AlternateContent>
    </p:spTree>
    <p:extLst>
      <p:ext uri="{BB962C8B-B14F-4D97-AF65-F5344CB8AC3E}">
        <p14:creationId xmlns:p14="http://schemas.microsoft.com/office/powerpoint/2010/main" val="2039376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8428-0EAC-E23E-E1C2-100BF8271DE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CA8049C-9B91-875D-9B6F-69795535BEEC}"/>
                  </a:ext>
                </a:extLst>
              </p:cNvPr>
              <p:cNvSpPr txBox="1"/>
              <p:nvPr/>
            </p:nvSpPr>
            <p:spPr>
              <a:xfrm>
                <a:off x="566442" y="151179"/>
                <a:ext cx="10794775" cy="5623206"/>
              </a:xfrm>
              <a:prstGeom prst="rect">
                <a:avLst/>
              </a:prstGeom>
              <a:noFill/>
            </p:spPr>
            <p:txBody>
              <a:bodyPr wrap="square" rtlCol="0">
                <a:spAutoFit/>
              </a:bodyPr>
              <a:lstStyle/>
              <a:p>
                <a:r>
                  <a:rPr lang="en-US" b="1" dirty="0"/>
                  <a:t>B7. Length Constant (λ) — Spatial Attenuation</a:t>
                </a:r>
                <a:endParaRPr lang="en-US" dirty="0"/>
              </a:p>
              <a:p>
                <a:r>
                  <a:rPr lang="en-US" b="1" dirty="0"/>
                  <a:t>IMAGE INSERT HERE — “EPSP Attenuation Over Distance”</a:t>
                </a:r>
                <a:br>
                  <a:rPr lang="en-US" dirty="0"/>
                </a:br>
                <a:r>
                  <a:rPr lang="en-US" i="1" dirty="0"/>
                  <a:t>Alt‑text:</a:t>
                </a:r>
                <a:r>
                  <a:rPr lang="en-US" dirty="0"/>
                  <a:t> “EPSP amplitude decays with distance; thicker dendrite attenuates less.”</a:t>
                </a:r>
              </a:p>
              <a:p>
                <a:r>
                  <a:rPr lang="en-US" b="1" dirty="0"/>
                  <a:t>Core text</a:t>
                </a:r>
                <a:br>
                  <a:rPr lang="en-US" dirty="0"/>
                </a:b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𝑖</m:t>
                                </m:r>
                              </m:sub>
                            </m:sSub>
                          </m:den>
                        </m:f>
                      </m:e>
                    </m:rad>
                  </m:oMath>
                </a14:m>
                <a:r>
                  <a:rPr lang="en-US" dirty="0"/>
                  <a:t>(qualitatively) sets how far local voltage spreads along neurites; diameter matters.</a:t>
                </a:r>
              </a:p>
              <a:p>
                <a:r>
                  <a:rPr lang="en-US" b="1" dirty="0"/>
                  <a:t>Self‑learning prompt</a:t>
                </a:r>
                <a:br>
                  <a:rPr lang="en-US" dirty="0"/>
                </a:br>
                <a:r>
                  <a:rPr lang="en-US" dirty="0"/>
                  <a:t>“Explain how increasing dendrite diameter affects λ and why distal inputs may be weaker at the soma.”</a:t>
                </a:r>
              </a:p>
              <a:p>
                <a:br>
                  <a:rPr lang="en-US" dirty="0"/>
                </a:br>
                <a:endParaRPr lang="en-US" dirty="0"/>
              </a:p>
              <a:p>
                <a:r>
                  <a:rPr lang="en-US" b="1" dirty="0"/>
                  <a:t>B8. Driving Force — </a:t>
                </a:r>
                <a14:m>
                  <m:oMath xmlns:m="http://schemas.openxmlformats.org/officeDocument/2006/math">
                    <m:r>
                      <a:rPr lang="en-US" b="1" i="1">
                        <a:latin typeface="Cambria Math" panose="02040503050406030204" pitchFamily="18" charset="0"/>
                      </a:rPr>
                      <m:t>𝑰</m:t>
                    </m:r>
                    <m:r>
                      <a:rPr lang="en-US" b="1" i="1">
                        <a:latin typeface="Cambria Math" panose="02040503050406030204" pitchFamily="18" charset="0"/>
                      </a:rPr>
                      <m:t>=</m:t>
                    </m:r>
                    <m:r>
                      <a:rPr lang="en-US" b="1" i="1">
                        <a:latin typeface="Cambria Math" panose="02040503050406030204" pitchFamily="18" charset="0"/>
                      </a:rPr>
                      <m:t>𝒈</m:t>
                    </m:r>
                    <m:r>
                      <a:rPr lang="en-US" b="1" i="1">
                        <a:latin typeface="Cambria Math" panose="02040503050406030204" pitchFamily="18" charset="0"/>
                      </a:rPr>
                      <m:t>(</m:t>
                    </m:r>
                    <m:r>
                      <a:rPr lang="en-US" b="1" i="1">
                        <a:latin typeface="Cambria Math" panose="02040503050406030204" pitchFamily="18" charset="0"/>
                      </a:rPr>
                      <m:t>𝑽</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𝑬</m:t>
                        </m:r>
                      </m:e>
                      <m:sub>
                        <m:r>
                          <m:rPr>
                            <m:nor/>
                          </m:rPr>
                          <a:rPr lang="en-US" b="1"/>
                          <m:t>ion</m:t>
                        </m:r>
                      </m:sub>
                    </m:sSub>
                    <m:r>
                      <a:rPr lang="en-US" b="1" i="1">
                        <a:latin typeface="Cambria Math" panose="02040503050406030204" pitchFamily="18" charset="0"/>
                      </a:rPr>
                      <m:t>)</m:t>
                    </m:r>
                  </m:oMath>
                </a14:m>
                <a:endParaRPr lang="en-US" dirty="0"/>
              </a:p>
              <a:p>
                <a:r>
                  <a:rPr lang="en-US" b="1" dirty="0"/>
                  <a:t>IMAGE INSERT HERE — “Driving Force Direction Diagram”</a:t>
                </a:r>
                <a:br>
                  <a:rPr lang="en-US" dirty="0"/>
                </a:br>
                <a:r>
                  <a:rPr lang="en-US" i="1" dirty="0"/>
                  <a:t>Alt‑text:</a:t>
                </a:r>
                <a:r>
                  <a:rPr lang="en-US" dirty="0"/>
                  <a:t> “Arrows showing inward/outward current depending on V and </a:t>
                </a:r>
                <a:r>
                  <a:rPr lang="en-US" dirty="0" err="1"/>
                  <a:t>E_ion</a:t>
                </a:r>
                <a:r>
                  <a:rPr lang="en-US" dirty="0"/>
                  <a:t>.”</a:t>
                </a:r>
              </a:p>
              <a:p>
                <a:r>
                  <a:rPr lang="en-US" b="1" dirty="0"/>
                  <a:t>Core text</a:t>
                </a:r>
                <a:br>
                  <a:rPr lang="en-US" dirty="0"/>
                </a:br>
                <a:r>
                  <a:rPr lang="en-US" dirty="0"/>
                  <a:t>Current direction and magnitude arise from the difference between </a:t>
                </a:r>
                <a:r>
                  <a:rPr lang="en-US" b="1" dirty="0"/>
                  <a:t>membrane voltage</a:t>
                </a:r>
                <a:r>
                  <a:rPr lang="en-US" dirty="0"/>
                  <a:t> and the </a:t>
                </a:r>
                <a:r>
                  <a:rPr lang="en-US" b="1" dirty="0"/>
                  <a:t>ion’s reversal</a:t>
                </a:r>
                <a:r>
                  <a:rPr lang="en-US" dirty="0"/>
                  <a:t>.</a:t>
                </a:r>
              </a:p>
              <a:p>
                <a:r>
                  <a:rPr lang="en-US" b="1" dirty="0"/>
                  <a:t>Self‑learning prompt</a:t>
                </a:r>
                <a:br>
                  <a:rPr lang="en-US" dirty="0"/>
                </a:br>
                <a:r>
                  <a:rPr lang="en-US" dirty="0"/>
                  <a:t>“Given V = −65 mV and </a:t>
                </a:r>
                <a:r>
                  <a:rPr lang="en-US" dirty="0" err="1"/>
                  <a:t>E_Cl</a:t>
                </a:r>
                <a:r>
                  <a:rPr lang="en-US" dirty="0"/>
                  <a:t> = −70 mV, explain whether opening Cl⁻ channels depolarizes, hyperpolarizes, or shunts and why.”</a:t>
                </a:r>
              </a:p>
              <a:p>
                <a:endParaRPr lang="en-US" sz="1600" dirty="0"/>
              </a:p>
            </p:txBody>
          </p:sp>
        </mc:Choice>
        <mc:Fallback xmlns="">
          <p:sp>
            <p:nvSpPr>
              <p:cNvPr id="4" name="TextBox 3">
                <a:extLst>
                  <a:ext uri="{FF2B5EF4-FFF2-40B4-BE49-F238E27FC236}">
                    <a16:creationId xmlns:a16="http://schemas.microsoft.com/office/drawing/2014/main" id="{1CA8049C-9B91-875D-9B6F-69795535BEEC}"/>
                  </a:ext>
                </a:extLst>
              </p:cNvPr>
              <p:cNvSpPr txBox="1">
                <a:spLocks noRot="1" noChangeAspect="1" noMove="1" noResize="1" noEditPoints="1" noAdjustHandles="1" noChangeArrowheads="1" noChangeShapeType="1" noTextEdit="1"/>
              </p:cNvSpPr>
              <p:nvPr/>
            </p:nvSpPr>
            <p:spPr>
              <a:xfrm>
                <a:off x="566442" y="151179"/>
                <a:ext cx="10794775" cy="5623206"/>
              </a:xfrm>
              <a:prstGeom prst="rect">
                <a:avLst/>
              </a:prstGeom>
              <a:blipFill>
                <a:blip r:embed="rId2"/>
                <a:stretch>
                  <a:fillRect l="-508" t="-542"/>
                </a:stretch>
              </a:blipFill>
            </p:spPr>
            <p:txBody>
              <a:bodyPr/>
              <a:lstStyle/>
              <a:p>
                <a:r>
                  <a:rPr lang="en-US">
                    <a:noFill/>
                  </a:rPr>
                  <a:t> </a:t>
                </a:r>
              </a:p>
            </p:txBody>
          </p:sp>
        </mc:Fallback>
      </mc:AlternateContent>
    </p:spTree>
    <p:extLst>
      <p:ext uri="{BB962C8B-B14F-4D97-AF65-F5344CB8AC3E}">
        <p14:creationId xmlns:p14="http://schemas.microsoft.com/office/powerpoint/2010/main" val="360830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B978-E524-FF48-5267-6C091B5577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1F3812-E005-4ED4-44C4-E53D201CB775}"/>
              </a:ext>
            </a:extLst>
          </p:cNvPr>
          <p:cNvSpPr txBox="1"/>
          <p:nvPr/>
        </p:nvSpPr>
        <p:spPr>
          <a:xfrm>
            <a:off x="566442" y="151179"/>
            <a:ext cx="10794775" cy="4216539"/>
          </a:xfrm>
          <a:prstGeom prst="rect">
            <a:avLst/>
          </a:prstGeom>
          <a:noFill/>
        </p:spPr>
        <p:txBody>
          <a:bodyPr wrap="square" rtlCol="0">
            <a:spAutoFit/>
          </a:bodyPr>
          <a:lstStyle/>
          <a:p>
            <a:r>
              <a:rPr lang="en-US" b="1" dirty="0"/>
              <a:t>B9. Myelination — Changing Effective Membrane Properties</a:t>
            </a:r>
            <a:br>
              <a:rPr lang="en-US" dirty="0"/>
            </a:br>
            <a:r>
              <a:rPr lang="en-US" dirty="0"/>
              <a:t>Myelin </a:t>
            </a:r>
            <a:r>
              <a:rPr lang="en-US" b="1" dirty="0"/>
              <a:t>reduces capacitance</a:t>
            </a:r>
            <a:r>
              <a:rPr lang="en-US" dirty="0"/>
              <a:t> and </a:t>
            </a:r>
            <a:r>
              <a:rPr lang="en-US" b="1" dirty="0"/>
              <a:t>increases resistance</a:t>
            </a:r>
            <a:r>
              <a:rPr lang="en-US" dirty="0"/>
              <a:t> in internodes, enabling </a:t>
            </a:r>
            <a:r>
              <a:rPr lang="en-US" b="1" dirty="0"/>
              <a:t>saltatory conduction</a:t>
            </a:r>
            <a:r>
              <a:rPr lang="en-US" dirty="0"/>
              <a:t> between nodes.</a:t>
            </a:r>
          </a:p>
          <a:p>
            <a:r>
              <a:rPr lang="en-US" b="1" dirty="0"/>
              <a:t>Self‑learning prompt</a:t>
            </a:r>
            <a:br>
              <a:rPr lang="en-US" dirty="0"/>
            </a:br>
            <a:r>
              <a:rPr lang="en-US" dirty="0"/>
              <a:t>“Predict how demyelination affects signal propagation and threshold at nodes.”</a:t>
            </a:r>
          </a:p>
          <a:p>
            <a:br>
              <a:rPr lang="en-US" dirty="0"/>
            </a:br>
            <a:endParaRPr lang="en-US" dirty="0"/>
          </a:p>
          <a:p>
            <a:r>
              <a:rPr lang="en-US" b="1" dirty="0"/>
              <a:t>B10. Hodgkin–Huxley in a Nutshell — The Membrane Equation</a:t>
            </a:r>
            <a:br>
              <a:rPr lang="en-US" dirty="0"/>
            </a:br>
            <a:r>
              <a:rPr lang="en-US" dirty="0"/>
              <a:t>The membrane equation combines </a:t>
            </a:r>
            <a:r>
              <a:rPr lang="en-US" b="1" dirty="0"/>
              <a:t>capacitance</a:t>
            </a:r>
            <a:r>
              <a:rPr lang="en-US" dirty="0"/>
              <a:t>, </a:t>
            </a:r>
            <a:r>
              <a:rPr lang="en-US" b="1" dirty="0"/>
              <a:t>conductances</a:t>
            </a:r>
            <a:r>
              <a:rPr lang="en-US" dirty="0"/>
              <a:t>, and </a:t>
            </a:r>
            <a:r>
              <a:rPr lang="en-US" b="1" dirty="0"/>
              <a:t>driving forces</a:t>
            </a:r>
            <a:r>
              <a:rPr lang="en-US" dirty="0"/>
              <a:t> into a time‑evolving voltage description used in simulators like NEURON.</a:t>
            </a:r>
          </a:p>
          <a:p>
            <a:r>
              <a:rPr lang="en-US" b="1" dirty="0"/>
              <a:t>Self‑learning prompt</a:t>
            </a:r>
            <a:br>
              <a:rPr lang="en-US" dirty="0"/>
            </a:br>
            <a:r>
              <a:rPr lang="en-US" dirty="0"/>
              <a:t>“In 4–6 sentences, map capacitor, conductances, and reversal potentials to biological elements and state the membrane equation qualitatively (no derivation).”</a:t>
            </a:r>
          </a:p>
          <a:p>
            <a:endParaRPr lang="en-US" dirty="0"/>
          </a:p>
          <a:p>
            <a:endParaRPr lang="en-US" sz="1600" dirty="0"/>
          </a:p>
        </p:txBody>
      </p:sp>
      <p:pic>
        <p:nvPicPr>
          <p:cNvPr id="2" name="Picture 1" descr="Diagram&#10;&#10;Description automatically generated">
            <a:extLst>
              <a:ext uri="{FF2B5EF4-FFF2-40B4-BE49-F238E27FC236}">
                <a16:creationId xmlns:a16="http://schemas.microsoft.com/office/drawing/2014/main" id="{F882F37D-CFBA-62CF-A775-5B889989361A}"/>
              </a:ext>
            </a:extLst>
          </p:cNvPr>
          <p:cNvPicPr>
            <a:picLocks noChangeAspect="1"/>
          </p:cNvPicPr>
          <p:nvPr/>
        </p:nvPicPr>
        <p:blipFill rotWithShape="1">
          <a:blip r:embed="rId2">
            <a:extLst>
              <a:ext uri="{28A0092B-C50C-407E-A947-70E740481C1C}">
                <a14:useLocalDpi xmlns:a14="http://schemas.microsoft.com/office/drawing/2010/main" val="0"/>
              </a:ext>
            </a:extLst>
          </a:blip>
          <a:srcRect l="9774" t="13113" r="17465" b="16933"/>
          <a:stretch>
            <a:fillRect/>
          </a:stretch>
        </p:blipFill>
        <p:spPr>
          <a:xfrm>
            <a:off x="7157349" y="3544312"/>
            <a:ext cx="4090579" cy="2949568"/>
          </a:xfrm>
          <a:prstGeom prst="rect">
            <a:avLst/>
          </a:prstGeom>
        </p:spPr>
      </p:pic>
    </p:spTree>
    <p:extLst>
      <p:ext uri="{BB962C8B-B14F-4D97-AF65-F5344CB8AC3E}">
        <p14:creationId xmlns:p14="http://schemas.microsoft.com/office/powerpoint/2010/main" val="3606108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1117</Words>
  <Application>Microsoft Office PowerPoint</Application>
  <PresentationFormat>Widescreen</PresentationFormat>
  <Paragraphs>63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Nair, Satish</dc:creator>
  <cp:lastModifiedBy>Nair, Satish</cp:lastModifiedBy>
  <cp:revision>1</cp:revision>
  <dcterms:created xsi:type="dcterms:W3CDTF">2026-03-09T03:33:19Z</dcterms:created>
  <dcterms:modified xsi:type="dcterms:W3CDTF">2026-03-23T18:15:50Z</dcterms:modified>
</cp:coreProperties>
</file>