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8"/>
  </p:notesMasterIdLst>
  <p:sldIdLst>
    <p:sldId id="264" r:id="rId2"/>
    <p:sldId id="256"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F760C2-3403-4A39-888D-D121F39DCDF2}" v="15" dt="2026-03-23T00:35:18.500"/>
    <p1510:client id="{E51B09C9-F37E-471A-90F7-7B011EFD101D}" v="3" dt="2026-03-23T06:03:48.5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8" d="100"/>
          <a:sy n="118" d="100"/>
        </p:scale>
        <p:origin x="120"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r, Satish" userId="af50c098-07d3-4545-ad93-15c24b849386" providerId="ADAL" clId="{B575728E-D61F-49E0-BC8E-8DC5242C7AE2}"/>
    <pc:docChg chg="undo redo custSel addSld delSld modSld sldOrd">
      <pc:chgData name="Nair, Satish" userId="af50c098-07d3-4545-ad93-15c24b849386" providerId="ADAL" clId="{B575728E-D61F-49E0-BC8E-8DC5242C7AE2}" dt="2026-03-23T06:04:01.566" v="1237" actId="2711"/>
      <pc:docMkLst>
        <pc:docMk/>
      </pc:docMkLst>
      <pc:sldChg chg="addSp delSp modSp new mod">
        <pc:chgData name="Nair, Satish" userId="af50c098-07d3-4545-ad93-15c24b849386" providerId="ADAL" clId="{B575728E-D61F-49E0-BC8E-8DC5242C7AE2}" dt="2026-03-23T05:21:06.188" v="1185" actId="20577"/>
        <pc:sldMkLst>
          <pc:docMk/>
          <pc:sldMk cId="1764206999" sldId="256"/>
        </pc:sldMkLst>
        <pc:spChg chg="add mod">
          <ac:chgData name="Nair, Satish" userId="af50c098-07d3-4545-ad93-15c24b849386" providerId="ADAL" clId="{B575728E-D61F-49E0-BC8E-8DC5242C7AE2}" dt="2026-03-23T05:21:06.188" v="1185" actId="20577"/>
          <ac:spMkLst>
            <pc:docMk/>
            <pc:sldMk cId="1764206999" sldId="256"/>
            <ac:spMk id="4" creationId="{D0B1748E-1251-FBC2-DAD5-783A4BA8FD4D}"/>
          </ac:spMkLst>
        </pc:spChg>
        <pc:picChg chg="add mod">
          <ac:chgData name="Nair, Satish" userId="af50c098-07d3-4545-ad93-15c24b849386" providerId="ADAL" clId="{B575728E-D61F-49E0-BC8E-8DC5242C7AE2}" dt="2026-03-09T05:15:23.174" v="987" actId="14100"/>
          <ac:picMkLst>
            <pc:docMk/>
            <pc:sldMk cId="1764206999" sldId="256"/>
            <ac:picMk id="3" creationId="{DFB715A5-5ED3-6BA1-F7AE-DCEE115CC295}"/>
          </ac:picMkLst>
        </pc:picChg>
        <pc:picChg chg="add mod">
          <ac:chgData name="Nair, Satish" userId="af50c098-07d3-4545-ad93-15c24b849386" providerId="ADAL" clId="{B575728E-D61F-49E0-BC8E-8DC5242C7AE2}" dt="2026-03-09T05:17:53.545" v="991" actId="1076"/>
          <ac:picMkLst>
            <pc:docMk/>
            <pc:sldMk cId="1764206999" sldId="256"/>
            <ac:picMk id="6" creationId="{626D5BD8-F224-ED0A-68DC-3E4635CB5FC3}"/>
          </ac:picMkLst>
        </pc:picChg>
      </pc:sldChg>
      <pc:sldChg chg="addSp delSp modSp add mod">
        <pc:chgData name="Nair, Satish" userId="af50c098-07d3-4545-ad93-15c24b849386" providerId="ADAL" clId="{B575728E-D61F-49E0-BC8E-8DC5242C7AE2}" dt="2026-03-21T15:26:48.300" v="1117" actId="1076"/>
        <pc:sldMkLst>
          <pc:docMk/>
          <pc:sldMk cId="4012667350" sldId="260"/>
        </pc:sldMkLst>
        <pc:spChg chg="mod">
          <ac:chgData name="Nair, Satish" userId="af50c098-07d3-4545-ad93-15c24b849386" providerId="ADAL" clId="{B575728E-D61F-49E0-BC8E-8DC5242C7AE2}" dt="2026-03-09T05:44:09.564" v="1067" actId="1076"/>
          <ac:spMkLst>
            <pc:docMk/>
            <pc:sldMk cId="4012667350" sldId="260"/>
            <ac:spMk id="4" creationId="{5D076A1F-4422-5497-47F1-3DC86BF2915D}"/>
          </ac:spMkLst>
        </pc:spChg>
        <pc:picChg chg="add mod">
          <ac:chgData name="Nair, Satish" userId="af50c098-07d3-4545-ad93-15c24b849386" providerId="ADAL" clId="{B575728E-D61F-49E0-BC8E-8DC5242C7AE2}" dt="2026-03-09T05:44:19.450" v="1069" actId="1076"/>
          <ac:picMkLst>
            <pc:docMk/>
            <pc:sldMk cId="4012667350" sldId="260"/>
            <ac:picMk id="3" creationId="{D067717B-1F81-D52A-427A-5B891C2C694D}"/>
          </ac:picMkLst>
        </pc:picChg>
        <pc:picChg chg="add mod">
          <ac:chgData name="Nair, Satish" userId="af50c098-07d3-4545-ad93-15c24b849386" providerId="ADAL" clId="{B575728E-D61F-49E0-BC8E-8DC5242C7AE2}" dt="2026-03-09T05:43:42.976" v="1057" actId="1076"/>
          <ac:picMkLst>
            <pc:docMk/>
            <pc:sldMk cId="4012667350" sldId="260"/>
            <ac:picMk id="5" creationId="{FD1AC796-D4CD-200A-8E5B-F8E32F9A168F}"/>
          </ac:picMkLst>
        </pc:picChg>
        <pc:picChg chg="add mod modCrop">
          <ac:chgData name="Nair, Satish" userId="af50c098-07d3-4545-ad93-15c24b849386" providerId="ADAL" clId="{B575728E-D61F-49E0-BC8E-8DC5242C7AE2}" dt="2026-03-21T15:26:48.300" v="1117" actId="1076"/>
          <ac:picMkLst>
            <pc:docMk/>
            <pc:sldMk cId="4012667350" sldId="260"/>
            <ac:picMk id="7" creationId="{8C0E08D3-26FF-216E-D624-0BEBA288DBE3}"/>
          </ac:picMkLst>
        </pc:picChg>
      </pc:sldChg>
      <pc:sldChg chg="modSp add mod">
        <pc:chgData name="Nair, Satish" userId="af50c098-07d3-4545-ad93-15c24b849386" providerId="ADAL" clId="{B575728E-D61F-49E0-BC8E-8DC5242C7AE2}" dt="2026-03-09T05:01:08.826" v="901" actId="20577"/>
        <pc:sldMkLst>
          <pc:docMk/>
          <pc:sldMk cId="2039376043" sldId="261"/>
        </pc:sldMkLst>
        <pc:spChg chg="mod">
          <ac:chgData name="Nair, Satish" userId="af50c098-07d3-4545-ad93-15c24b849386" providerId="ADAL" clId="{B575728E-D61F-49E0-BC8E-8DC5242C7AE2}" dt="2026-03-09T05:01:08.826" v="901" actId="20577"/>
          <ac:spMkLst>
            <pc:docMk/>
            <pc:sldMk cId="2039376043" sldId="261"/>
            <ac:spMk id="4" creationId="{7C8A91C0-E6C9-7CEF-787D-B020B3536961}"/>
          </ac:spMkLst>
        </pc:spChg>
      </pc:sldChg>
      <pc:sldChg chg="modSp add mod">
        <pc:chgData name="Nair, Satish" userId="af50c098-07d3-4545-ad93-15c24b849386" providerId="ADAL" clId="{B575728E-D61F-49E0-BC8E-8DC5242C7AE2}" dt="2026-03-09T05:01:49.048" v="907" actId="20577"/>
        <pc:sldMkLst>
          <pc:docMk/>
          <pc:sldMk cId="3608301042" sldId="262"/>
        </pc:sldMkLst>
        <pc:spChg chg="mod">
          <ac:chgData name="Nair, Satish" userId="af50c098-07d3-4545-ad93-15c24b849386" providerId="ADAL" clId="{B575728E-D61F-49E0-BC8E-8DC5242C7AE2}" dt="2026-03-09T05:01:49.048" v="907" actId="20577"/>
          <ac:spMkLst>
            <pc:docMk/>
            <pc:sldMk cId="3608301042" sldId="262"/>
            <ac:spMk id="4" creationId="{1CA8049C-9B91-875D-9B6F-69795535BEEC}"/>
          </ac:spMkLst>
        </pc:spChg>
      </pc:sldChg>
      <pc:sldChg chg="addSp modSp add mod">
        <pc:chgData name="Nair, Satish" userId="af50c098-07d3-4545-ad93-15c24b849386" providerId="ADAL" clId="{B575728E-D61F-49E0-BC8E-8DC5242C7AE2}" dt="2026-03-09T05:15:12.758" v="984" actId="1076"/>
        <pc:sldMkLst>
          <pc:docMk/>
          <pc:sldMk cId="3606108365" sldId="263"/>
        </pc:sldMkLst>
        <pc:spChg chg="mod">
          <ac:chgData name="Nair, Satish" userId="af50c098-07d3-4545-ad93-15c24b849386" providerId="ADAL" clId="{B575728E-D61F-49E0-BC8E-8DC5242C7AE2}" dt="2026-03-09T05:15:06.911" v="982" actId="20577"/>
          <ac:spMkLst>
            <pc:docMk/>
            <pc:sldMk cId="3606108365" sldId="263"/>
            <ac:spMk id="4" creationId="{171F3812-E005-4ED4-44C4-E53D201CB775}"/>
          </ac:spMkLst>
        </pc:spChg>
        <pc:picChg chg="add mod">
          <ac:chgData name="Nair, Satish" userId="af50c098-07d3-4545-ad93-15c24b849386" providerId="ADAL" clId="{B575728E-D61F-49E0-BC8E-8DC5242C7AE2}" dt="2026-03-09T05:15:12.758" v="984" actId="1076"/>
          <ac:picMkLst>
            <pc:docMk/>
            <pc:sldMk cId="3606108365" sldId="263"/>
            <ac:picMk id="2" creationId="{F882F37D-CFBA-62CF-A775-5B889989361A}"/>
          </ac:picMkLst>
        </pc:picChg>
      </pc:sldChg>
      <pc:sldChg chg="modSp add mod ord">
        <pc:chgData name="Nair, Satish" userId="af50c098-07d3-4545-ad93-15c24b849386" providerId="ADAL" clId="{B575728E-D61F-49E0-BC8E-8DC5242C7AE2}" dt="2026-03-23T06:04:01.566" v="1237" actId="2711"/>
        <pc:sldMkLst>
          <pc:docMk/>
          <pc:sldMk cId="2936881161" sldId="264"/>
        </pc:sldMkLst>
        <pc:spChg chg="mod">
          <ac:chgData name="Nair, Satish" userId="af50c098-07d3-4545-ad93-15c24b849386" providerId="ADAL" clId="{B575728E-D61F-49E0-BC8E-8DC5242C7AE2}" dt="2026-03-23T06:04:01.566" v="1237" actId="2711"/>
          <ac:spMkLst>
            <pc:docMk/>
            <pc:sldMk cId="2936881161" sldId="264"/>
            <ac:spMk id="3" creationId="{6D650F9E-E20D-0E94-09E5-7C45C205E7A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55C27-59AB-4A4B-A7BD-DF84115AA115}"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767DA3-17AF-4FF0-BC33-DFEA0A33F739}" type="slidenum">
              <a:rPr lang="en-US" smtClean="0"/>
              <a:t>‹#›</a:t>
            </a:fld>
            <a:endParaRPr lang="en-US"/>
          </a:p>
        </p:txBody>
      </p:sp>
    </p:spTree>
    <p:extLst>
      <p:ext uri="{BB962C8B-B14F-4D97-AF65-F5344CB8AC3E}">
        <p14:creationId xmlns:p14="http://schemas.microsoft.com/office/powerpoint/2010/main" val="3012963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BC25-E4D0-7EDF-CE1F-4B8DDCCAA5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C556AE-079E-25B5-E6D4-7EFE93828F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FDAE12-89D4-2C01-C85B-2FB931553425}"/>
              </a:ext>
            </a:extLst>
          </p:cNvPr>
          <p:cNvSpPr>
            <a:spLocks noGrp="1"/>
          </p:cNvSpPr>
          <p:nvPr>
            <p:ph type="dt" sz="half" idx="10"/>
          </p:nvPr>
        </p:nvSpPr>
        <p:spPr/>
        <p:txBody>
          <a:bodyPr/>
          <a:lstStyle/>
          <a:p>
            <a:fld id="{FF32E331-1F60-4B25-A11C-10138B5B2260}" type="datetime1">
              <a:rPr lang="en-US" smtClean="0"/>
              <a:t>3/23/2026</a:t>
            </a:fld>
            <a:endParaRPr lang="en-US"/>
          </a:p>
        </p:txBody>
      </p:sp>
      <p:sp>
        <p:nvSpPr>
          <p:cNvPr id="5" name="Footer Placeholder 4">
            <a:extLst>
              <a:ext uri="{FF2B5EF4-FFF2-40B4-BE49-F238E27FC236}">
                <a16:creationId xmlns:a16="http://schemas.microsoft.com/office/drawing/2014/main" id="{4892D36B-E89B-2B2A-EA81-C2D8FE9F29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2B647-D4F0-0CBD-9FCD-6AA17D91AB0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096132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2202F-860B-2A8C-6828-662DBF97C7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86339E-6F0F-2AFC-EE0C-F6945D5B76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1EFB29-270D-657A-3555-232011A652C7}"/>
              </a:ext>
            </a:extLst>
          </p:cNvPr>
          <p:cNvSpPr>
            <a:spLocks noGrp="1"/>
          </p:cNvSpPr>
          <p:nvPr>
            <p:ph type="dt" sz="half" idx="10"/>
          </p:nvPr>
        </p:nvSpPr>
        <p:spPr/>
        <p:txBody>
          <a:bodyPr/>
          <a:lstStyle/>
          <a:p>
            <a:fld id="{F48EACDA-C910-40E2-81AC-1D8ECF441A6A}" type="datetime1">
              <a:rPr lang="en-US" smtClean="0"/>
              <a:t>3/23/2026</a:t>
            </a:fld>
            <a:endParaRPr lang="en-US"/>
          </a:p>
        </p:txBody>
      </p:sp>
      <p:sp>
        <p:nvSpPr>
          <p:cNvPr id="5" name="Footer Placeholder 4">
            <a:extLst>
              <a:ext uri="{FF2B5EF4-FFF2-40B4-BE49-F238E27FC236}">
                <a16:creationId xmlns:a16="http://schemas.microsoft.com/office/drawing/2014/main" id="{E807D7C0-8285-63EA-E0F9-F6A4B2A8C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E4DBF-836E-9006-E9B8-37C5FA7AEB1A}"/>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20446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2449-E5D4-C801-9520-E077C448F4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612A8A-B4A1-B128-9813-263FF59427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DA2B91-43EB-F8DE-3EAC-18E03AC5E419}"/>
              </a:ext>
            </a:extLst>
          </p:cNvPr>
          <p:cNvSpPr>
            <a:spLocks noGrp="1"/>
          </p:cNvSpPr>
          <p:nvPr>
            <p:ph type="dt" sz="half" idx="10"/>
          </p:nvPr>
        </p:nvSpPr>
        <p:spPr/>
        <p:txBody>
          <a:bodyPr/>
          <a:lstStyle/>
          <a:p>
            <a:fld id="{E12CFFD9-0E6F-4E25-89C9-7C2AE877EF9A}" type="datetime1">
              <a:rPr lang="en-US" smtClean="0"/>
              <a:t>3/23/2026</a:t>
            </a:fld>
            <a:endParaRPr lang="en-US"/>
          </a:p>
        </p:txBody>
      </p:sp>
      <p:sp>
        <p:nvSpPr>
          <p:cNvPr id="5" name="Footer Placeholder 4">
            <a:extLst>
              <a:ext uri="{FF2B5EF4-FFF2-40B4-BE49-F238E27FC236}">
                <a16:creationId xmlns:a16="http://schemas.microsoft.com/office/drawing/2014/main" id="{F541FD23-0821-B07E-2D22-4AF75E0C0C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AFD298-7808-47BB-C70F-8D15CC58FA3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67931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49BF0-EFDF-C2E4-E77E-9E53B8C72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EC2189-51E1-5DDD-EBF5-1D719F4255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122BAC-B11B-0870-41B2-659CE9A3EA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A0896F-6B39-A7B1-CF35-02285AB3AC29}"/>
              </a:ext>
            </a:extLst>
          </p:cNvPr>
          <p:cNvSpPr>
            <a:spLocks noGrp="1"/>
          </p:cNvSpPr>
          <p:nvPr>
            <p:ph type="dt" sz="half" idx="10"/>
          </p:nvPr>
        </p:nvSpPr>
        <p:spPr/>
        <p:txBody>
          <a:bodyPr/>
          <a:lstStyle/>
          <a:p>
            <a:fld id="{4861FCD6-4F46-4B11-B2B8-03105DDC408F}" type="datetime1">
              <a:rPr lang="en-US" smtClean="0"/>
              <a:t>3/23/2026</a:t>
            </a:fld>
            <a:endParaRPr lang="en-US"/>
          </a:p>
        </p:txBody>
      </p:sp>
      <p:sp>
        <p:nvSpPr>
          <p:cNvPr id="6" name="Footer Placeholder 5">
            <a:extLst>
              <a:ext uri="{FF2B5EF4-FFF2-40B4-BE49-F238E27FC236}">
                <a16:creationId xmlns:a16="http://schemas.microsoft.com/office/drawing/2014/main" id="{B574AFDF-3661-3D13-1ADC-A764383B33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24F5C7-8CD9-714A-1AA6-1DD93109D7A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29940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75D81-C967-CC36-DA82-AFDA30DC6BC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EDA566-44E7-1A79-2A4C-C723C5C1C7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FDAB48-485E-6D7E-5F3A-D1B7668A0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46E116-9EFE-8AF6-6A80-00CC1172E3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236710-6A60-9C82-8C03-7BBFE01CBF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3254922-460A-6337-DE69-954D3F61DB3C}"/>
              </a:ext>
            </a:extLst>
          </p:cNvPr>
          <p:cNvSpPr>
            <a:spLocks noGrp="1"/>
          </p:cNvSpPr>
          <p:nvPr>
            <p:ph type="dt" sz="half" idx="10"/>
          </p:nvPr>
        </p:nvSpPr>
        <p:spPr/>
        <p:txBody>
          <a:bodyPr/>
          <a:lstStyle/>
          <a:p>
            <a:fld id="{B403512D-B46A-4775-A79B-9CB3796DAC87}" type="datetime1">
              <a:rPr lang="en-US" smtClean="0"/>
              <a:t>3/23/2026</a:t>
            </a:fld>
            <a:endParaRPr lang="en-US"/>
          </a:p>
        </p:txBody>
      </p:sp>
      <p:sp>
        <p:nvSpPr>
          <p:cNvPr id="8" name="Footer Placeholder 7">
            <a:extLst>
              <a:ext uri="{FF2B5EF4-FFF2-40B4-BE49-F238E27FC236}">
                <a16:creationId xmlns:a16="http://schemas.microsoft.com/office/drawing/2014/main" id="{4828447E-CC2F-BCA7-ED21-0B63289EB1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6FCA31-7DC7-B80C-8196-CCB2CF4910F9}"/>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391452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B1B0-D5A6-A083-E837-E343ECC414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132E81-651C-A081-C36A-2C102D2162C1}"/>
              </a:ext>
            </a:extLst>
          </p:cNvPr>
          <p:cNvSpPr>
            <a:spLocks noGrp="1"/>
          </p:cNvSpPr>
          <p:nvPr>
            <p:ph type="dt" sz="half" idx="10"/>
          </p:nvPr>
        </p:nvSpPr>
        <p:spPr/>
        <p:txBody>
          <a:bodyPr/>
          <a:lstStyle/>
          <a:p>
            <a:fld id="{4B71B376-FF89-44E6-BB6A-DFFA3EEE8233}" type="datetime1">
              <a:rPr lang="en-US" smtClean="0"/>
              <a:t>3/23/2026</a:t>
            </a:fld>
            <a:endParaRPr lang="en-US"/>
          </a:p>
        </p:txBody>
      </p:sp>
      <p:sp>
        <p:nvSpPr>
          <p:cNvPr id="4" name="Footer Placeholder 3">
            <a:extLst>
              <a:ext uri="{FF2B5EF4-FFF2-40B4-BE49-F238E27FC236}">
                <a16:creationId xmlns:a16="http://schemas.microsoft.com/office/drawing/2014/main" id="{FE53045E-365F-2897-8F60-C6B9743643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BD3BB0-96C4-B03D-F658-6D7D42CA59D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494645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6E5BB2-789D-A963-4374-BD1B26C5D18F}"/>
              </a:ext>
            </a:extLst>
          </p:cNvPr>
          <p:cNvSpPr>
            <a:spLocks noGrp="1"/>
          </p:cNvSpPr>
          <p:nvPr>
            <p:ph type="dt" sz="half" idx="10"/>
          </p:nvPr>
        </p:nvSpPr>
        <p:spPr/>
        <p:txBody>
          <a:bodyPr/>
          <a:lstStyle/>
          <a:p>
            <a:fld id="{A1542B4B-B097-4E56-8E67-ECE7877DDFD2}" type="datetime1">
              <a:rPr lang="en-US" smtClean="0"/>
              <a:t>3/23/2026</a:t>
            </a:fld>
            <a:endParaRPr lang="en-US"/>
          </a:p>
        </p:txBody>
      </p:sp>
      <p:sp>
        <p:nvSpPr>
          <p:cNvPr id="3" name="Footer Placeholder 2">
            <a:extLst>
              <a:ext uri="{FF2B5EF4-FFF2-40B4-BE49-F238E27FC236}">
                <a16:creationId xmlns:a16="http://schemas.microsoft.com/office/drawing/2014/main" id="{3BF2CAC2-E085-78CE-7BE5-446BBBBA18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CB80DC7-119B-88A3-3125-832447629873}"/>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727457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E6FD8-043D-1271-4FD8-B1CC2D1D6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99759-6CC6-2C30-BBEB-83CBAFDFFE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EE585A-4571-F1F0-0499-463A980C51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4DA0A2-94D4-C7CC-9F5B-C36F4FCA1694}"/>
              </a:ext>
            </a:extLst>
          </p:cNvPr>
          <p:cNvSpPr>
            <a:spLocks noGrp="1"/>
          </p:cNvSpPr>
          <p:nvPr>
            <p:ph type="dt" sz="half" idx="10"/>
          </p:nvPr>
        </p:nvSpPr>
        <p:spPr/>
        <p:txBody>
          <a:bodyPr/>
          <a:lstStyle/>
          <a:p>
            <a:fld id="{321FB5B8-495E-4487-BEB6-22DF53BB73D7}" type="datetime1">
              <a:rPr lang="en-US" smtClean="0"/>
              <a:t>3/23/2026</a:t>
            </a:fld>
            <a:endParaRPr lang="en-US"/>
          </a:p>
        </p:txBody>
      </p:sp>
      <p:sp>
        <p:nvSpPr>
          <p:cNvPr id="6" name="Footer Placeholder 5">
            <a:extLst>
              <a:ext uri="{FF2B5EF4-FFF2-40B4-BE49-F238E27FC236}">
                <a16:creationId xmlns:a16="http://schemas.microsoft.com/office/drawing/2014/main" id="{F4B58BA8-F8B8-83F6-1301-234DB02E70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0E65DE-7BFA-DA62-9B84-8E03D965ED9E}"/>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2632513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5AAAD-1FCE-F895-EDB7-8E1238A0C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9F2322-C6E1-E87D-6BDC-D6DADC386A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02B28A-F013-0E17-E011-CF725AF64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EC82A-8E7D-0DE8-B45F-253D93F2974B}"/>
              </a:ext>
            </a:extLst>
          </p:cNvPr>
          <p:cNvSpPr>
            <a:spLocks noGrp="1"/>
          </p:cNvSpPr>
          <p:nvPr>
            <p:ph type="dt" sz="half" idx="10"/>
          </p:nvPr>
        </p:nvSpPr>
        <p:spPr/>
        <p:txBody>
          <a:bodyPr/>
          <a:lstStyle/>
          <a:p>
            <a:fld id="{F8859C98-76D9-4F50-83BD-6DCDA92B81F3}" type="datetime1">
              <a:rPr lang="en-US" smtClean="0"/>
              <a:t>3/23/2026</a:t>
            </a:fld>
            <a:endParaRPr lang="en-US"/>
          </a:p>
        </p:txBody>
      </p:sp>
      <p:sp>
        <p:nvSpPr>
          <p:cNvPr id="6" name="Footer Placeholder 5">
            <a:extLst>
              <a:ext uri="{FF2B5EF4-FFF2-40B4-BE49-F238E27FC236}">
                <a16:creationId xmlns:a16="http://schemas.microsoft.com/office/drawing/2014/main" id="{C3ED65E2-C35A-72A7-05F7-F621C2B219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19BAF-C86F-A3EE-B32E-8E5B045E4070}"/>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1582334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5407E-A242-1C2E-7DD7-C767D94402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A46C6D-C9C6-4563-9F83-E06DF7D784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F1774B-8B86-278A-7EF8-B4157B05C57D}"/>
              </a:ext>
            </a:extLst>
          </p:cNvPr>
          <p:cNvSpPr>
            <a:spLocks noGrp="1"/>
          </p:cNvSpPr>
          <p:nvPr>
            <p:ph type="dt" sz="half" idx="10"/>
          </p:nvPr>
        </p:nvSpPr>
        <p:spPr/>
        <p:txBody>
          <a:bodyPr/>
          <a:lstStyle/>
          <a:p>
            <a:fld id="{5751C082-2D2E-4369-BBF2-1286676ECEE2}" type="datetime1">
              <a:rPr lang="en-US" smtClean="0"/>
              <a:t>3/23/2026</a:t>
            </a:fld>
            <a:endParaRPr lang="en-US"/>
          </a:p>
        </p:txBody>
      </p:sp>
      <p:sp>
        <p:nvSpPr>
          <p:cNvPr id="5" name="Footer Placeholder 4">
            <a:extLst>
              <a:ext uri="{FF2B5EF4-FFF2-40B4-BE49-F238E27FC236}">
                <a16:creationId xmlns:a16="http://schemas.microsoft.com/office/drawing/2014/main" id="{8DDF2AAB-D0B7-DB24-5F3F-5DDA932F4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B039D-7797-567B-51AE-A783FB654B14}"/>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5326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02D9F8-9453-27F4-4665-3C6C06F094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8DE82A-43C4-24B7-90BD-0BE9C2872C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B4BCC4-F4E7-7368-2BE5-563E46805CFA}"/>
              </a:ext>
            </a:extLst>
          </p:cNvPr>
          <p:cNvSpPr>
            <a:spLocks noGrp="1"/>
          </p:cNvSpPr>
          <p:nvPr>
            <p:ph type="dt" sz="half" idx="10"/>
          </p:nvPr>
        </p:nvSpPr>
        <p:spPr/>
        <p:txBody>
          <a:bodyPr/>
          <a:lstStyle/>
          <a:p>
            <a:fld id="{C0D982C9-26E1-4D8F-BFAA-70496DC547E8}" type="datetime1">
              <a:rPr lang="en-US" smtClean="0"/>
              <a:t>3/23/2026</a:t>
            </a:fld>
            <a:endParaRPr lang="en-US"/>
          </a:p>
        </p:txBody>
      </p:sp>
      <p:sp>
        <p:nvSpPr>
          <p:cNvPr id="5" name="Footer Placeholder 4">
            <a:extLst>
              <a:ext uri="{FF2B5EF4-FFF2-40B4-BE49-F238E27FC236}">
                <a16:creationId xmlns:a16="http://schemas.microsoft.com/office/drawing/2014/main" id="{9A64B331-FF8D-F00B-EC01-08E191BC7D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B1F4EB-8993-02EE-E725-E439A61035F5}"/>
              </a:ext>
            </a:extLst>
          </p:cNvPr>
          <p:cNvSpPr>
            <a:spLocks noGrp="1"/>
          </p:cNvSpPr>
          <p:nvPr>
            <p:ph type="sldNum" sz="quarter" idx="12"/>
          </p:nvPr>
        </p:nvSpPr>
        <p:spPr/>
        <p:txBody>
          <a:bodyPr/>
          <a:lstStyle/>
          <a:p>
            <a:fld id="{C82CF24B-AFC1-4E9A-A5EA-281CA027E13D}" type="slidenum">
              <a:rPr lang="en-US" smtClean="0"/>
              <a:t>‹#›</a:t>
            </a:fld>
            <a:endParaRPr lang="en-US"/>
          </a:p>
        </p:txBody>
      </p:sp>
    </p:spTree>
    <p:extLst>
      <p:ext uri="{BB962C8B-B14F-4D97-AF65-F5344CB8AC3E}">
        <p14:creationId xmlns:p14="http://schemas.microsoft.com/office/powerpoint/2010/main" val="3568778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389E9D-406E-AED0-62E1-1D3E976FAC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C5FCEC-69C0-040D-78F3-D9F581A547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58F6A3-D9C5-1FFB-3440-535EC453C7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66460D-E355-4FA1-88B8-DB5E71A87C70}" type="datetime1">
              <a:rPr lang="en-US" smtClean="0"/>
              <a:t>3/23/2026</a:t>
            </a:fld>
            <a:endParaRPr lang="en-US"/>
          </a:p>
        </p:txBody>
      </p:sp>
      <p:sp>
        <p:nvSpPr>
          <p:cNvPr id="5" name="Footer Placeholder 4">
            <a:extLst>
              <a:ext uri="{FF2B5EF4-FFF2-40B4-BE49-F238E27FC236}">
                <a16:creationId xmlns:a16="http://schemas.microsoft.com/office/drawing/2014/main" id="{9C638BA6-5EC0-D741-9EBC-77C5601AE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93ED57-03D5-A76D-A2B4-C89354A474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2CF24B-AFC1-4E9A-A5EA-281CA027E13D}" type="slidenum">
              <a:rPr lang="en-US" smtClean="0"/>
              <a:t>‹#›</a:t>
            </a:fld>
            <a:endParaRPr lang="en-US"/>
          </a:p>
        </p:txBody>
      </p:sp>
    </p:spTree>
    <p:extLst>
      <p:ext uri="{BB962C8B-B14F-4D97-AF65-F5344CB8AC3E}">
        <p14:creationId xmlns:p14="http://schemas.microsoft.com/office/powerpoint/2010/main" val="28205568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colab.research.google.com/github/cyneuro/Chapter_Colabs/blob/main/Colab_B.ipynb"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650F9E-E20D-0E94-09E5-7C45C205E7A4}"/>
              </a:ext>
            </a:extLst>
          </p:cNvPr>
          <p:cNvSpPr>
            <a:spLocks noChangeArrowheads="1"/>
          </p:cNvSpPr>
          <p:nvPr/>
        </p:nvSpPr>
        <p:spPr bwMode="auto">
          <a:xfrm>
            <a:off x="755257" y="473662"/>
            <a:ext cx="10552014" cy="460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71450" algn="l"/>
              </a:tabLst>
              <a:defRPr>
                <a:solidFill>
                  <a:schemeClr val="tx1"/>
                </a:solidFill>
                <a:latin typeface="Arial" panose="020B0604020202020204" pitchFamily="34" charset="0"/>
              </a:defRPr>
            </a:lvl1pPr>
            <a:lvl2pPr eaLnBrk="0" fontAlgn="base" hangingPunct="0">
              <a:spcBef>
                <a:spcPct val="0"/>
              </a:spcBef>
              <a:spcAft>
                <a:spcPct val="0"/>
              </a:spcAft>
              <a:tabLst>
                <a:tab pos="171450" algn="l"/>
              </a:tabLst>
              <a:defRPr>
                <a:solidFill>
                  <a:schemeClr val="tx1"/>
                </a:solidFill>
                <a:latin typeface="Arial" panose="020B0604020202020204" pitchFamily="34" charset="0"/>
              </a:defRPr>
            </a:lvl2pPr>
            <a:lvl3pPr eaLnBrk="0" fontAlgn="base" hangingPunct="0">
              <a:spcBef>
                <a:spcPct val="0"/>
              </a:spcBef>
              <a:spcAft>
                <a:spcPct val="0"/>
              </a:spcAft>
              <a:tabLst>
                <a:tab pos="171450" algn="l"/>
              </a:tabLst>
              <a:defRPr>
                <a:solidFill>
                  <a:schemeClr val="tx1"/>
                </a:solidFill>
                <a:latin typeface="Arial" panose="020B0604020202020204" pitchFamily="34" charset="0"/>
              </a:defRPr>
            </a:lvl3pPr>
            <a:lvl4pPr eaLnBrk="0" fontAlgn="base" hangingPunct="0">
              <a:spcBef>
                <a:spcPct val="0"/>
              </a:spcBef>
              <a:spcAft>
                <a:spcPct val="0"/>
              </a:spcAft>
              <a:tabLst>
                <a:tab pos="171450" algn="l"/>
              </a:tabLst>
              <a:defRPr>
                <a:solidFill>
                  <a:schemeClr val="tx1"/>
                </a:solidFill>
                <a:latin typeface="Arial" panose="020B0604020202020204" pitchFamily="34" charset="0"/>
              </a:defRPr>
            </a:lvl4pPr>
            <a:lvl5pPr eaLnBrk="0" fontAlgn="base" hangingPunct="0">
              <a:spcBef>
                <a:spcPct val="0"/>
              </a:spcBef>
              <a:spcAft>
                <a:spcPct val="0"/>
              </a:spcAft>
              <a:tabLst>
                <a:tab pos="171450" algn="l"/>
              </a:tabLst>
              <a:defRPr>
                <a:solidFill>
                  <a:schemeClr val="tx1"/>
                </a:solidFill>
                <a:latin typeface="Arial" panose="020B0604020202020204" pitchFamily="34" charset="0"/>
              </a:defRPr>
            </a:lvl5pPr>
            <a:lvl6pPr eaLnBrk="0" fontAlgn="base" hangingPunct="0">
              <a:spcBef>
                <a:spcPct val="0"/>
              </a:spcBef>
              <a:spcAft>
                <a:spcPct val="0"/>
              </a:spcAft>
              <a:tabLst>
                <a:tab pos="171450" algn="l"/>
              </a:tabLst>
              <a:defRPr>
                <a:solidFill>
                  <a:schemeClr val="tx1"/>
                </a:solidFill>
                <a:latin typeface="Arial" panose="020B0604020202020204" pitchFamily="34" charset="0"/>
              </a:defRPr>
            </a:lvl6pPr>
            <a:lvl7pPr eaLnBrk="0" fontAlgn="base" hangingPunct="0">
              <a:spcBef>
                <a:spcPct val="0"/>
              </a:spcBef>
              <a:spcAft>
                <a:spcPct val="0"/>
              </a:spcAft>
              <a:tabLst>
                <a:tab pos="171450" algn="l"/>
              </a:tabLst>
              <a:defRPr>
                <a:solidFill>
                  <a:schemeClr val="tx1"/>
                </a:solidFill>
                <a:latin typeface="Arial" panose="020B0604020202020204" pitchFamily="34" charset="0"/>
              </a:defRPr>
            </a:lvl7pPr>
            <a:lvl8pPr eaLnBrk="0" fontAlgn="base" hangingPunct="0">
              <a:spcBef>
                <a:spcPct val="0"/>
              </a:spcBef>
              <a:spcAft>
                <a:spcPct val="0"/>
              </a:spcAft>
              <a:tabLst>
                <a:tab pos="171450" algn="l"/>
              </a:tabLst>
              <a:defRPr>
                <a:solidFill>
                  <a:schemeClr val="tx1"/>
                </a:solidFill>
                <a:latin typeface="Arial" panose="020B0604020202020204" pitchFamily="34" charset="0"/>
              </a:defRPr>
            </a:lvl8pPr>
            <a:lvl9pPr eaLnBrk="0" fontAlgn="base" hangingPunct="0">
              <a:spcBef>
                <a:spcPct val="0"/>
              </a:spcBef>
              <a:spcAft>
                <a:spcPct val="0"/>
              </a:spcAft>
              <a:tabLst>
                <a:tab pos="171450" algn="l"/>
              </a:tabLst>
              <a:defRPr>
                <a:solidFill>
                  <a:schemeClr val="tx1"/>
                </a:solidFill>
                <a:latin typeface="Arial" panose="020B0604020202020204" pitchFamily="34" charset="0"/>
              </a:defRPr>
            </a:lvl9pPr>
          </a:lstStyle>
          <a:p>
            <a:pPr marR="0" lvl="0" algn="ctr" defTabSz="914400" rtl="0" eaLnBrk="0" fontAlgn="base" latinLnBrk="0" hangingPunct="0">
              <a:lnSpc>
                <a:spcPct val="100000"/>
              </a:lnSpc>
              <a:spcBef>
                <a:spcPct val="0"/>
              </a:spcBef>
              <a:spcAft>
                <a:spcPct val="0"/>
              </a:spcAft>
              <a:buClrTx/>
              <a:buSzTx/>
              <a:tabLst>
                <a:tab pos="171450" algn="l"/>
              </a:tabLst>
            </a:pPr>
            <a:r>
              <a:rPr kumimoji="0" lang="en-US" altLang="en-US" sz="2000" b="1" i="0" u="none" strike="noStrike" cap="none" normalizeH="0" baseline="0" dirty="0">
                <a:ln>
                  <a:noFill/>
                </a:ln>
                <a:solidFill>
                  <a:srgbClr val="0070C0"/>
                </a:solidFill>
                <a:effectLst/>
                <a:latin typeface="+mn-lt"/>
                <a:ea typeface="Times New Roman" panose="02020603050405020304" pitchFamily="18" charset="0"/>
                <a:cs typeface="Times New Roman" panose="02020603050405020304" pitchFamily="18" charset="0"/>
              </a:rPr>
              <a:t>F. SMALL NETWORKS: STM AND WTA</a:t>
            </a:r>
          </a:p>
          <a:p>
            <a:pPr marL="342900" marR="0" lvl="0" indent="-342900" algn="ctr" defTabSz="914400" rtl="0" eaLnBrk="0" fontAlgn="base" latinLnBrk="0" hangingPunct="0">
              <a:lnSpc>
                <a:spcPct val="100000"/>
              </a:lnSpc>
              <a:spcBef>
                <a:spcPct val="0"/>
              </a:spcBef>
              <a:spcAft>
                <a:spcPct val="0"/>
              </a:spcAft>
              <a:buClrTx/>
              <a:buSzTx/>
              <a:buFontTx/>
              <a:buAutoNum type="alphaUcPeriod"/>
              <a:tabLst>
                <a:tab pos="171450" algn="l"/>
              </a:tabLst>
            </a:pPr>
            <a:endParaRPr kumimoji="0" lang="en-US" altLang="en-US" b="1"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endParaRPr>
          </a:p>
          <a:p>
            <a:r>
              <a:rPr lang="en-US" sz="1700" i="1" dirty="0">
                <a:latin typeface="+mn-lt"/>
              </a:rPr>
              <a:t>Small networks for persistence (STM) and selection (WTA)</a:t>
            </a:r>
            <a:r>
              <a:rPr lang="en-US" sz="1700" dirty="0">
                <a:latin typeface="+mn-lt"/>
              </a:rPr>
              <a:t>. Having established how membrane and synaptic mechanisms shape single‑cell dynamics (Sets A–E), we now compose two compact network motifs that make explicit how weights, time constants, and inhibitory timing govern short‑term memory and categorical choice. The first motif short-term-memory (STM) demonstrates reverberation: brief drive to one element ignites a recurrent excitatory loop that outlives the stimulus when synaptic gain and decay lie in a permissive window; leak, adaptation, and well‑timed inhibition bound that window so the circuit avoids both failure to sustain and runaway spiking. The second motif implements winner‑take‑all (WTA): slightly unequal tonic inputs to principal cells engage a shared inhibitory pool; the earliest/strongest unit recruits inhibition that suppresses competitors, turning graded differences into categorical outcomes with a measurable decision time.</a:t>
            </a:r>
          </a:p>
          <a:p>
            <a:pPr marL="0" marR="0" lvl="0" indent="0" algn="l" defTabSz="914400" rtl="0" eaLnBrk="0" fontAlgn="base" latinLnBrk="0" hangingPunct="0">
              <a:lnSpc>
                <a:spcPct val="100000"/>
              </a:lnSpc>
              <a:spcBef>
                <a:spcPct val="0"/>
              </a:spcBef>
              <a:spcAft>
                <a:spcPct val="0"/>
              </a:spcAft>
              <a:buClrTx/>
              <a:buSzTx/>
              <a:buFontTx/>
              <a:buNone/>
              <a:tabLst>
                <a:tab pos="171450" algn="l"/>
              </a:tabLst>
            </a:pPr>
            <a:endParaRPr kumimoji="0" lang="en-US" altLang="en-US" sz="1700" b="0" i="0" u="none" strike="noStrike" cap="none" normalizeH="0" baseline="0" dirty="0">
              <a:ln>
                <a:noFill/>
              </a:ln>
              <a:solidFill>
                <a:schemeClr val="tx1"/>
              </a:solidFill>
              <a:effectLst/>
              <a:latin typeface="+mn-lt"/>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 algn="l"/>
              </a:tabLst>
            </a:pPr>
            <a:endParaRPr lang="en-US" altLang="en-US" sz="1700" dirty="0">
              <a:latin typeface="+mn-lt"/>
              <a:cs typeface="Times New Roman" panose="02020603050405020304" pitchFamily="18" charset="0"/>
            </a:endParaRPr>
          </a:p>
          <a:p>
            <a:r>
              <a:rPr lang="en-US" altLang="en-US" sz="1700" u="sng" dirty="0">
                <a:latin typeface="+mn-lt"/>
                <a:ea typeface="Times New Roman" panose="02020603050405020304" pitchFamily="18" charset="0"/>
                <a:cs typeface="Times New Roman" panose="02020603050405020304" pitchFamily="18" charset="0"/>
              </a:rPr>
              <a:t>Getting started</a:t>
            </a:r>
            <a:r>
              <a:rPr lang="en-US" altLang="en-US" sz="1700" dirty="0">
                <a:latin typeface="+mn-lt"/>
                <a:ea typeface="Times New Roman" panose="02020603050405020304" pitchFamily="18" charset="0"/>
                <a:cs typeface="Times New Roman" panose="02020603050405020304" pitchFamily="18" charset="0"/>
              </a:rPr>
              <a:t>: Click on the following link - </a:t>
            </a:r>
            <a:r>
              <a:rPr lang="en-US" altLang="en-US" sz="1700" dirty="0" err="1">
                <a:latin typeface="+mn-lt"/>
                <a:ea typeface="Times New Roman" panose="02020603050405020304" pitchFamily="18" charset="0"/>
                <a:cs typeface="Times New Roman" panose="02020603050405020304" pitchFamily="18" charset="0"/>
              </a:rPr>
              <a:t>Colab_A</a:t>
            </a:r>
            <a:r>
              <a:rPr lang="en-US" altLang="en-US" sz="1700" dirty="0">
                <a:latin typeface="+mn-lt"/>
                <a:ea typeface="Times New Roman" panose="02020603050405020304" pitchFamily="18" charset="0"/>
                <a:cs typeface="Times New Roman" panose="02020603050405020304" pitchFamily="18" charset="0"/>
              </a:rPr>
              <a:t> and complete the sequentially arranged hand-on learning - generating AI prompts for explanations and complete the exercises at the end.</a:t>
            </a:r>
          </a:p>
          <a:p>
            <a:endParaRPr lang="en-US" altLang="en-US" sz="1700" dirty="0">
              <a:latin typeface="Aptos" panose="020B0004020202020204" pitchFamily="34" charset="0"/>
              <a:cs typeface="Times New Roman" panose="02020603050405020304" pitchFamily="18" charset="0"/>
            </a:endParaRPr>
          </a:p>
          <a:p>
            <a:r>
              <a:rPr lang="en-US" altLang="en-US" sz="1700" u="sng" dirty="0">
                <a:latin typeface="Aptos" panose="020B0004020202020204" pitchFamily="34" charset="0"/>
                <a:cs typeface="Times New Roman" panose="02020603050405020304" pitchFamily="18" charset="0"/>
              </a:rPr>
              <a:t>A set of slides are provided to get started - the learner is encouraged to add more as appropriate.</a:t>
            </a:r>
            <a:endParaRPr lang="en-US" altLang="en-US" sz="1700" u="sng" dirty="0"/>
          </a:p>
        </p:txBody>
      </p:sp>
    </p:spTree>
    <p:extLst>
      <p:ext uri="{BB962C8B-B14F-4D97-AF65-F5344CB8AC3E}">
        <p14:creationId xmlns:p14="http://schemas.microsoft.com/office/powerpoint/2010/main" val="2936881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0B1748E-1251-FBC2-DAD5-783A4BA8FD4D}"/>
              </a:ext>
            </a:extLst>
          </p:cNvPr>
          <p:cNvSpPr txBox="1"/>
          <p:nvPr/>
        </p:nvSpPr>
        <p:spPr>
          <a:xfrm>
            <a:off x="566442" y="151179"/>
            <a:ext cx="10794775" cy="5986254"/>
          </a:xfrm>
          <a:prstGeom prst="rect">
            <a:avLst/>
          </a:prstGeom>
          <a:noFill/>
        </p:spPr>
        <p:txBody>
          <a:bodyPr wrap="square" rtlCol="0">
            <a:spAutoFit/>
          </a:bodyPr>
          <a:lstStyle/>
          <a:p>
            <a:endParaRPr lang="en-US" sz="700" i="1" dirty="0"/>
          </a:p>
          <a:p>
            <a:r>
              <a:rPr lang="en-US" i="1" dirty="0"/>
              <a:t>Now we connect to systems concepts: RC membrane, conductances, Nernst/Goldman, pumps as rechargers, τ, λ, HH intuition.</a:t>
            </a:r>
          </a:p>
          <a:p>
            <a:r>
              <a:rPr lang="en-US" b="1" dirty="0"/>
              <a:t>Colab for part B - </a:t>
            </a:r>
            <a:r>
              <a:rPr lang="en-US" sz="1000" b="1" dirty="0">
                <a:hlinkClick r:id="rId2"/>
              </a:rPr>
              <a:t>https://colab.research.google.com/github/cyneuro/Chapter_Colabs/blob/main/Colab_B.ipynb</a:t>
            </a:r>
            <a:endParaRPr lang="en-US" sz="1000" b="1" dirty="0"/>
          </a:p>
          <a:p>
            <a:endParaRPr lang="en-US" dirty="0"/>
          </a:p>
          <a:p>
            <a:r>
              <a:rPr lang="en-US" b="1" dirty="0"/>
              <a:t>B1. Membrane as Capacitor + Leak as Resistor</a:t>
            </a:r>
            <a:br>
              <a:rPr lang="en-US" dirty="0"/>
            </a:br>
            <a:r>
              <a:rPr lang="en-US" dirty="0"/>
              <a:t>The bilayer stores charge (</a:t>
            </a:r>
            <a:r>
              <a:rPr lang="en-US" b="1" dirty="0"/>
              <a:t>capacitance</a:t>
            </a:r>
            <a:r>
              <a:rPr lang="en-US" dirty="0"/>
              <a:t>), while leak </a:t>
            </a:r>
          </a:p>
          <a:p>
            <a:r>
              <a:rPr lang="en-US" dirty="0"/>
              <a:t>channels provide </a:t>
            </a:r>
            <a:r>
              <a:rPr lang="en-US" b="1" dirty="0"/>
              <a:t>conductive paths</a:t>
            </a:r>
            <a:r>
              <a:rPr lang="en-US" dirty="0"/>
              <a:t>. </a:t>
            </a:r>
          </a:p>
          <a:p>
            <a:r>
              <a:rPr lang="en-US" dirty="0"/>
              <a:t>Together they produce </a:t>
            </a:r>
            <a:r>
              <a:rPr lang="en-US" b="1" dirty="0"/>
              <a:t>RC‑like</a:t>
            </a:r>
            <a:r>
              <a:rPr lang="en-US" dirty="0"/>
              <a:t> voltage time courses.</a:t>
            </a:r>
          </a:p>
          <a:p>
            <a:r>
              <a:rPr lang="en-US" b="1" dirty="0"/>
              <a:t>Self‑learning prompt: </a:t>
            </a:r>
            <a:r>
              <a:rPr lang="en-US" dirty="0"/>
              <a:t>Using everyday analogies, explain why </a:t>
            </a:r>
          </a:p>
          <a:p>
            <a:r>
              <a:rPr lang="en-US" dirty="0"/>
              <a:t>membranes have capacitance and how leak affects voltage </a:t>
            </a:r>
          </a:p>
          <a:p>
            <a:r>
              <a:rPr lang="en-US" dirty="0"/>
              <a:t>over time. Predict the qualitative shape of V(t) to a small </a:t>
            </a:r>
          </a:p>
          <a:p>
            <a:r>
              <a:rPr lang="en-US" dirty="0"/>
              <a:t>current step.</a:t>
            </a:r>
            <a:br>
              <a:rPr lang="en-US" dirty="0"/>
            </a:br>
            <a:endParaRPr lang="en-US" dirty="0"/>
          </a:p>
          <a:p>
            <a:r>
              <a:rPr lang="en-US" b="1" dirty="0"/>
              <a:t>B2. Ion Gradients as Batteries — Nernst Potentials</a:t>
            </a:r>
            <a:endParaRPr lang="en-US" dirty="0"/>
          </a:p>
          <a:p>
            <a:r>
              <a:rPr lang="en-US" dirty="0"/>
              <a:t>Each ion’s gradient corresponds to a </a:t>
            </a:r>
            <a:r>
              <a:rPr lang="en-US" b="1" dirty="0"/>
              <a:t>reversal potential</a:t>
            </a:r>
            <a:r>
              <a:rPr lang="en-US" dirty="0"/>
              <a:t> </a:t>
            </a:r>
          </a:p>
          <a:p>
            <a:r>
              <a:rPr lang="en-US" dirty="0"/>
              <a:t>via Nernst. Channel selectivity ties ion flow to </a:t>
            </a:r>
            <a:r>
              <a:rPr lang="en-US" b="1" dirty="0"/>
              <a:t>driving force</a:t>
            </a:r>
            <a:endParaRPr lang="en-US" dirty="0"/>
          </a:p>
          <a:p>
            <a:r>
              <a:rPr lang="en-US" b="1" dirty="0"/>
              <a:t>Self‑learning prompt: </a:t>
            </a:r>
            <a:r>
              <a:rPr lang="en-US" dirty="0"/>
              <a:t>Compute E_K and </a:t>
            </a:r>
            <a:r>
              <a:rPr lang="en-US" dirty="0" err="1"/>
              <a:t>E_Na</a:t>
            </a:r>
            <a:r>
              <a:rPr lang="en-US" dirty="0"/>
              <a:t> from given </a:t>
            </a:r>
          </a:p>
          <a:p>
            <a:r>
              <a:rPr lang="en-US" dirty="0"/>
              <a:t>concentrations. Explain how changing internal K⁺ or external</a:t>
            </a:r>
          </a:p>
          <a:p>
            <a:r>
              <a:rPr lang="en-US" dirty="0"/>
              <a:t>Na⁺ shifts the corresponding Nernst potentials.</a:t>
            </a:r>
          </a:p>
          <a:p>
            <a:endParaRPr lang="en-US" dirty="0"/>
          </a:p>
          <a:p>
            <a:endParaRPr lang="en-US" sz="1600" dirty="0"/>
          </a:p>
        </p:txBody>
      </p:sp>
      <p:pic>
        <p:nvPicPr>
          <p:cNvPr id="3" name="Picture 2">
            <a:extLst>
              <a:ext uri="{FF2B5EF4-FFF2-40B4-BE49-F238E27FC236}">
                <a16:creationId xmlns:a16="http://schemas.microsoft.com/office/drawing/2014/main" id="{DFB715A5-5ED3-6BA1-F7AE-DCEE115CC29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00879" y="1056898"/>
            <a:ext cx="4735990" cy="2503598"/>
          </a:xfrm>
          <a:prstGeom prst="rect">
            <a:avLst/>
          </a:prstGeom>
          <a:noFill/>
          <a:ln>
            <a:noFill/>
          </a:ln>
        </p:spPr>
      </p:pic>
      <p:pic>
        <p:nvPicPr>
          <p:cNvPr id="6" name="Picture 5">
            <a:extLst>
              <a:ext uri="{FF2B5EF4-FFF2-40B4-BE49-F238E27FC236}">
                <a16:creationId xmlns:a16="http://schemas.microsoft.com/office/drawing/2014/main" id="{626D5BD8-F224-ED0A-68DC-3E4635CB5FC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243656" y="3595034"/>
            <a:ext cx="3211254" cy="2339738"/>
          </a:xfrm>
          <a:prstGeom prst="rect">
            <a:avLst/>
          </a:prstGeom>
          <a:noFill/>
          <a:ln>
            <a:noFill/>
          </a:ln>
        </p:spPr>
      </p:pic>
    </p:spTree>
    <p:extLst>
      <p:ext uri="{BB962C8B-B14F-4D97-AF65-F5344CB8AC3E}">
        <p14:creationId xmlns:p14="http://schemas.microsoft.com/office/powerpoint/2010/main" val="1764206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47587-138B-1AE7-A856-407A95C613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076A1F-4422-5497-47F1-3DC86BF2915D}"/>
              </a:ext>
            </a:extLst>
          </p:cNvPr>
          <p:cNvSpPr txBox="1"/>
          <p:nvPr/>
        </p:nvSpPr>
        <p:spPr>
          <a:xfrm>
            <a:off x="339865" y="197346"/>
            <a:ext cx="10794775" cy="6463308"/>
          </a:xfrm>
          <a:prstGeom prst="rect">
            <a:avLst/>
          </a:prstGeom>
          <a:noFill/>
        </p:spPr>
        <p:txBody>
          <a:bodyPr wrap="square" rtlCol="0">
            <a:spAutoFit/>
          </a:bodyPr>
          <a:lstStyle/>
          <a:p>
            <a:r>
              <a:rPr lang="en-US" b="1" dirty="0"/>
              <a:t>B3. Multiple Ions — Goldman–Hodgkin–Katz (GHK) and Resting Potential</a:t>
            </a:r>
            <a:endParaRPr lang="en-US" dirty="0"/>
          </a:p>
          <a:p>
            <a:r>
              <a:rPr lang="en-US" dirty="0"/>
              <a:t>With several permeant ions, resting V depends on </a:t>
            </a:r>
            <a:r>
              <a:rPr lang="en-US" b="1" dirty="0"/>
              <a:t>relative permeabilities</a:t>
            </a:r>
            <a:r>
              <a:rPr lang="en-US" dirty="0"/>
              <a:t> (P_K, </a:t>
            </a:r>
            <a:r>
              <a:rPr lang="en-US" dirty="0" err="1"/>
              <a:t>P_Na</a:t>
            </a:r>
            <a:r>
              <a:rPr lang="en-US" dirty="0"/>
              <a:t>, </a:t>
            </a:r>
            <a:r>
              <a:rPr lang="en-US" dirty="0" err="1"/>
              <a:t>P_Cl</a:t>
            </a:r>
            <a:r>
              <a:rPr lang="en-US" dirty="0"/>
              <a:t>), not just concentrations.</a:t>
            </a:r>
          </a:p>
          <a:p>
            <a:r>
              <a:rPr lang="en-US" b="1" dirty="0"/>
              <a:t>Self‑learning prompt:</a:t>
            </a:r>
          </a:p>
          <a:p>
            <a:r>
              <a:rPr lang="en-US" dirty="0"/>
              <a:t>Explain how changing </a:t>
            </a:r>
          </a:p>
          <a:p>
            <a:r>
              <a:rPr lang="en-US" dirty="0"/>
              <a:t>P_K/</a:t>
            </a:r>
            <a:r>
              <a:rPr lang="en-US" dirty="0" err="1"/>
              <a:t>P_Na</a:t>
            </a:r>
            <a:r>
              <a:rPr lang="en-US" dirty="0"/>
              <a:t> moves the </a:t>
            </a:r>
          </a:p>
          <a:p>
            <a:r>
              <a:rPr lang="en-US" dirty="0"/>
              <a:t>resting potential. </a:t>
            </a:r>
          </a:p>
          <a:p>
            <a:r>
              <a:rPr lang="en-US" dirty="0"/>
              <a:t>Provide a qualitative </a:t>
            </a:r>
          </a:p>
          <a:p>
            <a:r>
              <a:rPr lang="en-US" dirty="0"/>
              <a:t>graph showing resting </a:t>
            </a:r>
          </a:p>
          <a:p>
            <a:r>
              <a:rPr lang="en-US" dirty="0"/>
              <a:t>V as P_K increases.</a:t>
            </a:r>
            <a:br>
              <a:rPr lang="en-US" dirty="0"/>
            </a:br>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B4. Voltage‑Gated Channels — Activation &amp; Inactivation (m, h, n) </a:t>
            </a:r>
            <a:r>
              <a:rPr lang="en-US" dirty="0"/>
              <a:t>Na⁺ channels: </a:t>
            </a:r>
            <a:r>
              <a:rPr lang="en-US" b="1" dirty="0"/>
              <a:t>activation (m)</a:t>
            </a:r>
            <a:r>
              <a:rPr lang="en-US" dirty="0"/>
              <a:t> and </a:t>
            </a:r>
            <a:r>
              <a:rPr lang="en-US" b="1" dirty="0"/>
              <a:t>inactivation (h)</a:t>
            </a:r>
            <a:r>
              <a:rPr lang="en-US" dirty="0"/>
              <a:t>; K⁺: </a:t>
            </a:r>
            <a:r>
              <a:rPr lang="en-US" b="1" dirty="0"/>
              <a:t>activation (n)</a:t>
            </a:r>
            <a:r>
              <a:rPr lang="en-US" dirty="0"/>
              <a:t>. Their voltage dependence creates spikes via positive and negative </a:t>
            </a:r>
          </a:p>
          <a:p>
            <a:r>
              <a:rPr lang="en-US" dirty="0"/>
              <a:t>feedback loops.</a:t>
            </a:r>
          </a:p>
          <a:p>
            <a:r>
              <a:rPr lang="en-US" b="1" dirty="0"/>
              <a:t>Self‑learning prompt: </a:t>
            </a:r>
            <a:r>
              <a:rPr lang="en-US" dirty="0"/>
              <a:t>Describe how m, h, and n change with depolarization and how that sequence produces an action potential’s rise and fall.</a:t>
            </a:r>
          </a:p>
        </p:txBody>
      </p:sp>
      <p:pic>
        <p:nvPicPr>
          <p:cNvPr id="3" name="Picture 2">
            <a:extLst>
              <a:ext uri="{FF2B5EF4-FFF2-40B4-BE49-F238E27FC236}">
                <a16:creationId xmlns:a16="http://schemas.microsoft.com/office/drawing/2014/main" id="{D067717B-1F81-D52A-427A-5B891C2C69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85110" y="903484"/>
            <a:ext cx="2853736" cy="2079248"/>
          </a:xfrm>
          <a:prstGeom prst="rect">
            <a:avLst/>
          </a:prstGeom>
          <a:noFill/>
          <a:ln>
            <a:noFill/>
          </a:ln>
        </p:spPr>
      </p:pic>
      <p:pic>
        <p:nvPicPr>
          <p:cNvPr id="5" name="Picture 4">
            <a:extLst>
              <a:ext uri="{FF2B5EF4-FFF2-40B4-BE49-F238E27FC236}">
                <a16:creationId xmlns:a16="http://schemas.microsoft.com/office/drawing/2014/main" id="{FD1AC796-D4CD-200A-8E5B-F8E32F9A16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53" y="2982732"/>
            <a:ext cx="1838582" cy="2000529"/>
          </a:xfrm>
          <a:prstGeom prst="rect">
            <a:avLst/>
          </a:prstGeom>
        </p:spPr>
      </p:pic>
      <p:pic>
        <p:nvPicPr>
          <p:cNvPr id="7" name="Picture 6">
            <a:extLst>
              <a:ext uri="{FF2B5EF4-FFF2-40B4-BE49-F238E27FC236}">
                <a16:creationId xmlns:a16="http://schemas.microsoft.com/office/drawing/2014/main" id="{8C0E08D3-26FF-216E-D624-0BEBA288DBE3}"/>
              </a:ext>
            </a:extLst>
          </p:cNvPr>
          <p:cNvPicPr>
            <a:picLocks noChangeAspect="1"/>
          </p:cNvPicPr>
          <p:nvPr/>
        </p:nvPicPr>
        <p:blipFill>
          <a:blip r:embed="rId4"/>
          <a:srcRect r="5400"/>
          <a:stretch>
            <a:fillRect/>
          </a:stretch>
        </p:blipFill>
        <p:spPr>
          <a:xfrm>
            <a:off x="2837941" y="821314"/>
            <a:ext cx="5965965" cy="4322835"/>
          </a:xfrm>
          <a:prstGeom prst="rect">
            <a:avLst/>
          </a:prstGeom>
        </p:spPr>
      </p:pic>
    </p:spTree>
    <p:extLst>
      <p:ext uri="{BB962C8B-B14F-4D97-AF65-F5344CB8AC3E}">
        <p14:creationId xmlns:p14="http://schemas.microsoft.com/office/powerpoint/2010/main" val="4012667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292BF-FDEC-1E64-D99D-A06C17D3829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8A91C0-E6C9-7CEF-787D-B020B3536961}"/>
                  </a:ext>
                </a:extLst>
              </p:cNvPr>
              <p:cNvSpPr txBox="1"/>
              <p:nvPr/>
            </p:nvSpPr>
            <p:spPr>
              <a:xfrm>
                <a:off x="566442" y="151179"/>
                <a:ext cx="10794775" cy="5047536"/>
              </a:xfrm>
              <a:prstGeom prst="rect">
                <a:avLst/>
              </a:prstGeom>
              <a:noFill/>
            </p:spPr>
            <p:txBody>
              <a:bodyPr wrap="square" rtlCol="0">
                <a:spAutoFit/>
              </a:bodyPr>
              <a:lstStyle/>
              <a:p>
                <a:r>
                  <a:rPr lang="en-US" b="1" dirty="0"/>
                  <a:t>B5. Pumps as ‘Rechargers’ — Gradient Maintenance</a:t>
                </a:r>
                <a:br>
                  <a:rPr lang="en-US" dirty="0"/>
                </a:br>
                <a:r>
                  <a:rPr lang="en-US" dirty="0"/>
                  <a:t>Pumps minimally shift V in the short term but </a:t>
                </a:r>
                <a:r>
                  <a:rPr lang="en-US" b="1" dirty="0"/>
                  <a:t>sustain gradients</a:t>
                </a:r>
                <a:r>
                  <a:rPr lang="en-US" dirty="0"/>
                  <a:t> critical for long‑term excitability and recovery.</a:t>
                </a:r>
              </a:p>
              <a:p>
                <a:r>
                  <a:rPr lang="en-US" b="1" dirty="0"/>
                  <a:t>Self‑learning prompt</a:t>
                </a:r>
                <a:br>
                  <a:rPr lang="en-US" dirty="0"/>
                </a:br>
                <a:r>
                  <a:rPr lang="en-US" dirty="0"/>
                  <a:t>“Explain why blocking the Na⁺/K⁺ pump gradually alters excitability over minutes to hours rather than instantly.”</a:t>
                </a:r>
              </a:p>
              <a:p>
                <a:br>
                  <a:rPr lang="en-US" dirty="0"/>
                </a:br>
                <a:endParaRPr lang="en-US" dirty="0"/>
              </a:p>
              <a:p>
                <a:r>
                  <a:rPr lang="en-US" b="1" dirty="0"/>
                  <a:t>B6. Time Constant (τ) — Temporal Filtering</a:t>
                </a:r>
                <a:endParaRPr lang="en-US" dirty="0"/>
              </a:p>
              <a:p>
                <a:r>
                  <a:rPr lang="en-US" b="1" dirty="0"/>
                  <a:t>IMAGE INSERT HERE — “Exponential Voltage Relaxation Plot”</a:t>
                </a:r>
                <a:br>
                  <a:rPr lang="en-US" dirty="0"/>
                </a:br>
                <a:r>
                  <a:rPr lang="en-US" i="1" dirty="0"/>
                  <a:t>Alt‑text:</a:t>
                </a:r>
                <a:r>
                  <a:rPr lang="en-US" dirty="0"/>
                  <a:t> “Exponential charging/relaxation curve.”</a:t>
                </a:r>
              </a:p>
              <a:p>
                <a:r>
                  <a:rPr lang="en-US" b="1" dirty="0"/>
                  <a:t>Core text</a:t>
                </a:r>
                <a:br>
                  <a:rPr lang="en-US" dirty="0"/>
                </a:br>
                <a14:m>
                  <m:oMath xmlns:m="http://schemas.openxmlformats.org/officeDocument/2006/math">
                    <m:r>
                      <a:rPr lang="en-US" i="1">
                        <a:latin typeface="Cambria Math" panose="02040503050406030204" pitchFamily="18" charset="0"/>
                      </a:rPr>
                      <m:t>𝜏</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𝑚</m:t>
                        </m:r>
                      </m:sub>
                    </m:sSub>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𝑚</m:t>
                        </m:r>
                      </m:sub>
                    </m:sSub>
                  </m:oMath>
                </a14:m>
                <a:r>
                  <a:rPr lang="en-US" dirty="0"/>
                  <a:t>sets how quickly the membrane voltage changes to inputs.</a:t>
                </a:r>
              </a:p>
              <a:p>
                <a:r>
                  <a:rPr lang="en-US" b="1" dirty="0"/>
                  <a:t>Self‑learning prompt</a:t>
                </a:r>
                <a:br>
                  <a:rPr lang="en-US" dirty="0"/>
                </a:br>
                <a:r>
                  <a:rPr lang="en-US" dirty="0"/>
                  <a:t>“Predict how doubling membrane capacitance changes the time course of a small voltage response. Explain why.”</a:t>
                </a:r>
              </a:p>
              <a:p>
                <a:endParaRPr lang="en-US" dirty="0"/>
              </a:p>
              <a:p>
                <a:endParaRPr lang="en-US" sz="1600" dirty="0"/>
              </a:p>
            </p:txBody>
          </p:sp>
        </mc:Choice>
        <mc:Fallback xmlns="">
          <p:sp>
            <p:nvSpPr>
              <p:cNvPr id="4" name="TextBox 3">
                <a:extLst>
                  <a:ext uri="{FF2B5EF4-FFF2-40B4-BE49-F238E27FC236}">
                    <a16:creationId xmlns:a16="http://schemas.microsoft.com/office/drawing/2014/main" id="{7C8A91C0-E6C9-7CEF-787D-B020B3536961}"/>
                  </a:ext>
                </a:extLst>
              </p:cNvPr>
              <p:cNvSpPr txBox="1">
                <a:spLocks noRot="1" noChangeAspect="1" noMove="1" noResize="1" noEditPoints="1" noAdjustHandles="1" noChangeArrowheads="1" noChangeShapeType="1" noTextEdit="1"/>
              </p:cNvSpPr>
              <p:nvPr/>
            </p:nvSpPr>
            <p:spPr>
              <a:xfrm>
                <a:off x="566442" y="151179"/>
                <a:ext cx="10794775" cy="5047536"/>
              </a:xfrm>
              <a:prstGeom prst="rect">
                <a:avLst/>
              </a:prstGeom>
              <a:blipFill>
                <a:blip r:embed="rId2"/>
                <a:stretch>
                  <a:fillRect l="-508" t="-604" r="-508"/>
                </a:stretch>
              </a:blipFill>
            </p:spPr>
            <p:txBody>
              <a:bodyPr/>
              <a:lstStyle/>
              <a:p>
                <a:r>
                  <a:rPr lang="en-US">
                    <a:noFill/>
                  </a:rPr>
                  <a:t> </a:t>
                </a:r>
              </a:p>
            </p:txBody>
          </p:sp>
        </mc:Fallback>
      </mc:AlternateContent>
    </p:spTree>
    <p:extLst>
      <p:ext uri="{BB962C8B-B14F-4D97-AF65-F5344CB8AC3E}">
        <p14:creationId xmlns:p14="http://schemas.microsoft.com/office/powerpoint/2010/main" val="2039376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8428-0EAC-E23E-E1C2-100BF8271DE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CA8049C-9B91-875D-9B6F-69795535BEEC}"/>
                  </a:ext>
                </a:extLst>
              </p:cNvPr>
              <p:cNvSpPr txBox="1"/>
              <p:nvPr/>
            </p:nvSpPr>
            <p:spPr>
              <a:xfrm>
                <a:off x="566442" y="151179"/>
                <a:ext cx="10794775" cy="5623206"/>
              </a:xfrm>
              <a:prstGeom prst="rect">
                <a:avLst/>
              </a:prstGeom>
              <a:noFill/>
            </p:spPr>
            <p:txBody>
              <a:bodyPr wrap="square" rtlCol="0">
                <a:spAutoFit/>
              </a:bodyPr>
              <a:lstStyle/>
              <a:p>
                <a:r>
                  <a:rPr lang="en-US" b="1" dirty="0"/>
                  <a:t>B7. Length Constant (λ) — Spatial Attenuation</a:t>
                </a:r>
                <a:endParaRPr lang="en-US" dirty="0"/>
              </a:p>
              <a:p>
                <a:r>
                  <a:rPr lang="en-US" b="1" dirty="0"/>
                  <a:t>IMAGE INSERT HERE — “EPSP Attenuation Over Distance”</a:t>
                </a:r>
                <a:br>
                  <a:rPr lang="en-US" dirty="0"/>
                </a:br>
                <a:r>
                  <a:rPr lang="en-US" i="1" dirty="0"/>
                  <a:t>Alt‑text:</a:t>
                </a:r>
                <a:r>
                  <a:rPr lang="en-US" dirty="0"/>
                  <a:t> “EPSP amplitude decays with distance; thicker dendrite attenuates less.”</a:t>
                </a:r>
              </a:p>
              <a:p>
                <a:r>
                  <a:rPr lang="en-US" b="1" dirty="0"/>
                  <a:t>Core text</a:t>
                </a:r>
                <a:br>
                  <a:rPr lang="en-US" dirty="0"/>
                </a:br>
                <a14:m>
                  <m:oMath xmlns:m="http://schemas.openxmlformats.org/officeDocument/2006/math">
                    <m:r>
                      <a:rPr lang="en-US" i="1">
                        <a:latin typeface="Cambria Math" panose="02040503050406030204" pitchFamily="18" charset="0"/>
                      </a:rPr>
                      <m:t>𝜆</m:t>
                    </m:r>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𝑖</m:t>
                                </m:r>
                              </m:sub>
                            </m:sSub>
                          </m:den>
                        </m:f>
                      </m:e>
                    </m:rad>
                  </m:oMath>
                </a14:m>
                <a:r>
                  <a:rPr lang="en-US" dirty="0"/>
                  <a:t>(qualitatively) sets how far local voltage spreads along neurites; diameter matters.</a:t>
                </a:r>
              </a:p>
              <a:p>
                <a:r>
                  <a:rPr lang="en-US" b="1" dirty="0"/>
                  <a:t>Self‑learning prompt</a:t>
                </a:r>
                <a:br>
                  <a:rPr lang="en-US" dirty="0"/>
                </a:br>
                <a:r>
                  <a:rPr lang="en-US" dirty="0"/>
                  <a:t>“Explain how increasing dendrite diameter affects λ and why distal inputs may be weaker at the soma.”</a:t>
                </a:r>
              </a:p>
              <a:p>
                <a:br>
                  <a:rPr lang="en-US" dirty="0"/>
                </a:br>
                <a:endParaRPr lang="en-US" dirty="0"/>
              </a:p>
              <a:p>
                <a:r>
                  <a:rPr lang="en-US" b="1" dirty="0"/>
                  <a:t>B8. Driving Force — </a:t>
                </a:r>
                <a14:m>
                  <m:oMath xmlns:m="http://schemas.openxmlformats.org/officeDocument/2006/math">
                    <m:r>
                      <a:rPr lang="en-US" b="1" i="1">
                        <a:latin typeface="Cambria Math" panose="02040503050406030204" pitchFamily="18" charset="0"/>
                      </a:rPr>
                      <m:t>𝑰</m:t>
                    </m:r>
                    <m:r>
                      <a:rPr lang="en-US" b="1" i="1">
                        <a:latin typeface="Cambria Math" panose="02040503050406030204" pitchFamily="18" charset="0"/>
                      </a:rPr>
                      <m:t>=</m:t>
                    </m:r>
                    <m:r>
                      <a:rPr lang="en-US" b="1" i="1">
                        <a:latin typeface="Cambria Math" panose="02040503050406030204" pitchFamily="18" charset="0"/>
                      </a:rPr>
                      <m:t>𝒈</m:t>
                    </m:r>
                    <m:r>
                      <a:rPr lang="en-US" b="1" i="1">
                        <a:latin typeface="Cambria Math" panose="02040503050406030204" pitchFamily="18" charset="0"/>
                      </a:rPr>
                      <m:t>(</m:t>
                    </m:r>
                    <m:r>
                      <a:rPr lang="en-US" b="1" i="1">
                        <a:latin typeface="Cambria Math" panose="02040503050406030204" pitchFamily="18" charset="0"/>
                      </a:rPr>
                      <m:t>𝑽</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𝑬</m:t>
                        </m:r>
                      </m:e>
                      <m:sub>
                        <m:r>
                          <m:rPr>
                            <m:nor/>
                          </m:rPr>
                          <a:rPr lang="en-US" b="1"/>
                          <m:t>ion</m:t>
                        </m:r>
                      </m:sub>
                    </m:sSub>
                    <m:r>
                      <a:rPr lang="en-US" b="1" i="1">
                        <a:latin typeface="Cambria Math" panose="02040503050406030204" pitchFamily="18" charset="0"/>
                      </a:rPr>
                      <m:t>)</m:t>
                    </m:r>
                  </m:oMath>
                </a14:m>
                <a:endParaRPr lang="en-US" dirty="0"/>
              </a:p>
              <a:p>
                <a:r>
                  <a:rPr lang="en-US" b="1" dirty="0"/>
                  <a:t>IMAGE INSERT HERE — “Driving Force Direction Diagram”</a:t>
                </a:r>
                <a:br>
                  <a:rPr lang="en-US" dirty="0"/>
                </a:br>
                <a:r>
                  <a:rPr lang="en-US" i="1" dirty="0"/>
                  <a:t>Alt‑text:</a:t>
                </a:r>
                <a:r>
                  <a:rPr lang="en-US" dirty="0"/>
                  <a:t> “Arrows showing inward/outward current depending on V and </a:t>
                </a:r>
                <a:r>
                  <a:rPr lang="en-US" dirty="0" err="1"/>
                  <a:t>E_ion</a:t>
                </a:r>
                <a:r>
                  <a:rPr lang="en-US" dirty="0"/>
                  <a:t>.”</a:t>
                </a:r>
              </a:p>
              <a:p>
                <a:r>
                  <a:rPr lang="en-US" b="1" dirty="0"/>
                  <a:t>Core text</a:t>
                </a:r>
                <a:br>
                  <a:rPr lang="en-US" dirty="0"/>
                </a:br>
                <a:r>
                  <a:rPr lang="en-US" dirty="0"/>
                  <a:t>Current direction and magnitude arise from the difference between </a:t>
                </a:r>
                <a:r>
                  <a:rPr lang="en-US" b="1" dirty="0"/>
                  <a:t>membrane voltage</a:t>
                </a:r>
                <a:r>
                  <a:rPr lang="en-US" dirty="0"/>
                  <a:t> and the </a:t>
                </a:r>
                <a:r>
                  <a:rPr lang="en-US" b="1" dirty="0"/>
                  <a:t>ion’s reversal</a:t>
                </a:r>
                <a:r>
                  <a:rPr lang="en-US" dirty="0"/>
                  <a:t>.</a:t>
                </a:r>
              </a:p>
              <a:p>
                <a:r>
                  <a:rPr lang="en-US" b="1" dirty="0"/>
                  <a:t>Self‑learning prompt</a:t>
                </a:r>
                <a:br>
                  <a:rPr lang="en-US" dirty="0"/>
                </a:br>
                <a:r>
                  <a:rPr lang="en-US" dirty="0"/>
                  <a:t>“Given V = −65 mV and </a:t>
                </a:r>
                <a:r>
                  <a:rPr lang="en-US" dirty="0" err="1"/>
                  <a:t>E_Cl</a:t>
                </a:r>
                <a:r>
                  <a:rPr lang="en-US" dirty="0"/>
                  <a:t> = −70 mV, explain whether opening Cl⁻ channels depolarizes, hyperpolarizes, or shunts and why.”</a:t>
                </a:r>
              </a:p>
              <a:p>
                <a:endParaRPr lang="en-US" sz="1600" dirty="0"/>
              </a:p>
            </p:txBody>
          </p:sp>
        </mc:Choice>
        <mc:Fallback xmlns="">
          <p:sp>
            <p:nvSpPr>
              <p:cNvPr id="4" name="TextBox 3">
                <a:extLst>
                  <a:ext uri="{FF2B5EF4-FFF2-40B4-BE49-F238E27FC236}">
                    <a16:creationId xmlns:a16="http://schemas.microsoft.com/office/drawing/2014/main" id="{1CA8049C-9B91-875D-9B6F-69795535BEEC}"/>
                  </a:ext>
                </a:extLst>
              </p:cNvPr>
              <p:cNvSpPr txBox="1">
                <a:spLocks noRot="1" noChangeAspect="1" noMove="1" noResize="1" noEditPoints="1" noAdjustHandles="1" noChangeArrowheads="1" noChangeShapeType="1" noTextEdit="1"/>
              </p:cNvSpPr>
              <p:nvPr/>
            </p:nvSpPr>
            <p:spPr>
              <a:xfrm>
                <a:off x="566442" y="151179"/>
                <a:ext cx="10794775" cy="5623206"/>
              </a:xfrm>
              <a:prstGeom prst="rect">
                <a:avLst/>
              </a:prstGeom>
              <a:blipFill>
                <a:blip r:embed="rId2"/>
                <a:stretch>
                  <a:fillRect l="-508" t="-542"/>
                </a:stretch>
              </a:blipFill>
            </p:spPr>
            <p:txBody>
              <a:bodyPr/>
              <a:lstStyle/>
              <a:p>
                <a:r>
                  <a:rPr lang="en-US">
                    <a:noFill/>
                  </a:rPr>
                  <a:t> </a:t>
                </a:r>
              </a:p>
            </p:txBody>
          </p:sp>
        </mc:Fallback>
      </mc:AlternateContent>
    </p:spTree>
    <p:extLst>
      <p:ext uri="{BB962C8B-B14F-4D97-AF65-F5344CB8AC3E}">
        <p14:creationId xmlns:p14="http://schemas.microsoft.com/office/powerpoint/2010/main" val="3608301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6B978-E524-FF48-5267-6C091B5577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1F3812-E005-4ED4-44C4-E53D201CB775}"/>
              </a:ext>
            </a:extLst>
          </p:cNvPr>
          <p:cNvSpPr txBox="1"/>
          <p:nvPr/>
        </p:nvSpPr>
        <p:spPr>
          <a:xfrm>
            <a:off x="566442" y="151179"/>
            <a:ext cx="10794775" cy="4216539"/>
          </a:xfrm>
          <a:prstGeom prst="rect">
            <a:avLst/>
          </a:prstGeom>
          <a:noFill/>
        </p:spPr>
        <p:txBody>
          <a:bodyPr wrap="square" rtlCol="0">
            <a:spAutoFit/>
          </a:bodyPr>
          <a:lstStyle/>
          <a:p>
            <a:r>
              <a:rPr lang="en-US" b="1" dirty="0"/>
              <a:t>B9. Myelination — Changing Effective Membrane Properties</a:t>
            </a:r>
            <a:br>
              <a:rPr lang="en-US" dirty="0"/>
            </a:br>
            <a:r>
              <a:rPr lang="en-US" dirty="0"/>
              <a:t>Myelin </a:t>
            </a:r>
            <a:r>
              <a:rPr lang="en-US" b="1" dirty="0"/>
              <a:t>reduces capacitance</a:t>
            </a:r>
            <a:r>
              <a:rPr lang="en-US" dirty="0"/>
              <a:t> and </a:t>
            </a:r>
            <a:r>
              <a:rPr lang="en-US" b="1" dirty="0"/>
              <a:t>increases resistance</a:t>
            </a:r>
            <a:r>
              <a:rPr lang="en-US" dirty="0"/>
              <a:t> in internodes, enabling </a:t>
            </a:r>
            <a:r>
              <a:rPr lang="en-US" b="1" dirty="0"/>
              <a:t>saltatory conduction</a:t>
            </a:r>
            <a:r>
              <a:rPr lang="en-US" dirty="0"/>
              <a:t> between nodes.</a:t>
            </a:r>
          </a:p>
          <a:p>
            <a:r>
              <a:rPr lang="en-US" b="1" dirty="0"/>
              <a:t>Self‑learning prompt</a:t>
            </a:r>
            <a:br>
              <a:rPr lang="en-US" dirty="0"/>
            </a:br>
            <a:r>
              <a:rPr lang="en-US" dirty="0"/>
              <a:t>“Predict how demyelination affects signal propagation and threshold at nodes.”</a:t>
            </a:r>
          </a:p>
          <a:p>
            <a:br>
              <a:rPr lang="en-US" dirty="0"/>
            </a:br>
            <a:endParaRPr lang="en-US" dirty="0"/>
          </a:p>
          <a:p>
            <a:r>
              <a:rPr lang="en-US" b="1" dirty="0"/>
              <a:t>B10. Hodgkin–Huxley in a Nutshell — The Membrane Equation</a:t>
            </a:r>
            <a:br>
              <a:rPr lang="en-US" dirty="0"/>
            </a:br>
            <a:r>
              <a:rPr lang="en-US" dirty="0"/>
              <a:t>The membrane equation combines </a:t>
            </a:r>
            <a:r>
              <a:rPr lang="en-US" b="1" dirty="0"/>
              <a:t>capacitance</a:t>
            </a:r>
            <a:r>
              <a:rPr lang="en-US" dirty="0"/>
              <a:t>, </a:t>
            </a:r>
            <a:r>
              <a:rPr lang="en-US" b="1" dirty="0"/>
              <a:t>conductances</a:t>
            </a:r>
            <a:r>
              <a:rPr lang="en-US" dirty="0"/>
              <a:t>, and </a:t>
            </a:r>
            <a:r>
              <a:rPr lang="en-US" b="1" dirty="0"/>
              <a:t>driving forces</a:t>
            </a:r>
            <a:r>
              <a:rPr lang="en-US" dirty="0"/>
              <a:t> into a time‑evolving voltage description used in simulators like NEURON.</a:t>
            </a:r>
          </a:p>
          <a:p>
            <a:r>
              <a:rPr lang="en-US" b="1" dirty="0"/>
              <a:t>Self‑learning prompt</a:t>
            </a:r>
            <a:br>
              <a:rPr lang="en-US" dirty="0"/>
            </a:br>
            <a:r>
              <a:rPr lang="en-US" dirty="0"/>
              <a:t>“In 4–6 sentences, map capacitor, conductances, and reversal potentials to biological elements and state the membrane equation qualitatively (no derivation).”</a:t>
            </a:r>
          </a:p>
          <a:p>
            <a:endParaRPr lang="en-US" dirty="0"/>
          </a:p>
          <a:p>
            <a:endParaRPr lang="en-US" sz="1600" dirty="0"/>
          </a:p>
        </p:txBody>
      </p:sp>
      <p:pic>
        <p:nvPicPr>
          <p:cNvPr id="2" name="Picture 1" descr="Diagram&#10;&#10;Description automatically generated">
            <a:extLst>
              <a:ext uri="{FF2B5EF4-FFF2-40B4-BE49-F238E27FC236}">
                <a16:creationId xmlns:a16="http://schemas.microsoft.com/office/drawing/2014/main" id="{F882F37D-CFBA-62CF-A775-5B889989361A}"/>
              </a:ext>
            </a:extLst>
          </p:cNvPr>
          <p:cNvPicPr>
            <a:picLocks noChangeAspect="1"/>
          </p:cNvPicPr>
          <p:nvPr/>
        </p:nvPicPr>
        <p:blipFill rotWithShape="1">
          <a:blip r:embed="rId2">
            <a:extLst>
              <a:ext uri="{28A0092B-C50C-407E-A947-70E740481C1C}">
                <a14:useLocalDpi xmlns:a14="http://schemas.microsoft.com/office/drawing/2010/main" val="0"/>
              </a:ext>
            </a:extLst>
          </a:blip>
          <a:srcRect l="9774" t="13113" r="17465" b="16933"/>
          <a:stretch>
            <a:fillRect/>
          </a:stretch>
        </p:blipFill>
        <p:spPr>
          <a:xfrm>
            <a:off x="7157349" y="3544312"/>
            <a:ext cx="4090579" cy="2949568"/>
          </a:xfrm>
          <a:prstGeom prst="rect">
            <a:avLst/>
          </a:prstGeom>
        </p:spPr>
      </p:pic>
    </p:spTree>
    <p:extLst>
      <p:ext uri="{BB962C8B-B14F-4D97-AF65-F5344CB8AC3E}">
        <p14:creationId xmlns:p14="http://schemas.microsoft.com/office/powerpoint/2010/main" val="3606108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TotalTime>
  <Words>994</Words>
  <Application>Microsoft Office PowerPoint</Application>
  <PresentationFormat>Widescreen</PresentationFormat>
  <Paragraphs>65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Nair, Satish</dc:creator>
  <cp:lastModifiedBy>Nair, Satish</cp:lastModifiedBy>
  <cp:revision>1</cp:revision>
  <dcterms:created xsi:type="dcterms:W3CDTF">2026-03-09T03:33:19Z</dcterms:created>
  <dcterms:modified xsi:type="dcterms:W3CDTF">2026-03-23T06:04:06Z</dcterms:modified>
</cp:coreProperties>
</file>