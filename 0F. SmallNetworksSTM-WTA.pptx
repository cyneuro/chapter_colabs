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F760C2-3403-4A39-888D-D121F39DCDF2}" v="15" dt="2026-03-23T00:35:18.500"/>
    <p1510:client id="{E51B09C9-F37E-471A-90F7-7B011EFD101D}" v="6" dt="2026-03-23T18:16:59.5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18:16:59.502" v="1242"/>
      <pc:docMkLst>
        <pc:docMk/>
      </pc:docMkLst>
      <pc:sldChg chg="addSp delSp modSp new mod">
        <pc:chgData name="Nair, Satish" userId="af50c098-07d3-4545-ad93-15c24b849386" providerId="ADAL" clId="{B575728E-D61F-49E0-BC8E-8DC5242C7AE2}" dt="2026-03-23T05:21:06.188" v="1185" actId="20577"/>
        <pc:sldMkLst>
          <pc:docMk/>
          <pc:sldMk cId="1764206999" sldId="256"/>
        </pc:sldMkLst>
        <pc:spChg chg="add mod">
          <ac:chgData name="Nair, Satish" userId="af50c098-07d3-4545-ad93-15c24b849386" providerId="ADAL" clId="{B575728E-D61F-49E0-BC8E-8DC5242C7AE2}" dt="2026-03-23T05:21:06.188" v="1185" actId="20577"/>
          <ac:spMkLst>
            <pc:docMk/>
            <pc:sldMk cId="1764206999" sldId="256"/>
            <ac:spMk id="4" creationId="{D0B1748E-1251-FBC2-DAD5-783A4BA8FD4D}"/>
          </ac:spMkLst>
        </pc:spChg>
        <pc:picChg chg="add mod">
          <ac:chgData name="Nair, Satish" userId="af50c098-07d3-4545-ad93-15c24b849386" providerId="ADAL" clId="{B575728E-D61F-49E0-BC8E-8DC5242C7AE2}" dt="2026-03-09T05:15:23.174" v="987" actId="14100"/>
          <ac:picMkLst>
            <pc:docMk/>
            <pc:sldMk cId="1764206999" sldId="256"/>
            <ac:picMk id="3" creationId="{DFB715A5-5ED3-6BA1-F7AE-DCEE115CC295}"/>
          </ac:picMkLst>
        </pc:picChg>
        <pc:picChg chg="add mod">
          <ac:chgData name="Nair, Satish" userId="af50c098-07d3-4545-ad93-15c24b849386" providerId="ADAL" clId="{B575728E-D61F-49E0-BC8E-8DC5242C7AE2}" dt="2026-03-09T05:17:53.545" v="991"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09T05:01:08.826" v="901" actId="20577"/>
        <pc:sldMkLst>
          <pc:docMk/>
          <pc:sldMk cId="2039376043" sldId="261"/>
        </pc:sldMkLst>
        <pc:spChg chg="mod">
          <ac:chgData name="Nair, Satish" userId="af50c098-07d3-4545-ad93-15c24b849386" providerId="ADAL" clId="{B575728E-D61F-49E0-BC8E-8DC5242C7AE2}" dt="2026-03-09T05:01:08.826" v="901"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09T05:01:49.048" v="907" actId="20577"/>
        <pc:sldMkLst>
          <pc:docMk/>
          <pc:sldMk cId="3608301042" sldId="262"/>
        </pc:sldMkLst>
        <pc:spChg chg="mod">
          <ac:chgData name="Nair, Satish" userId="af50c098-07d3-4545-ad93-15c24b849386" providerId="ADAL" clId="{B575728E-D61F-49E0-BC8E-8DC5242C7AE2}" dt="2026-03-09T05:01:49.048" v="907"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09T05:15:12.758" v="984" actId="1076"/>
        <pc:sldMkLst>
          <pc:docMk/>
          <pc:sldMk cId="3606108365" sldId="263"/>
        </pc:sldMkLst>
        <pc:spChg chg="mod">
          <ac:chgData name="Nair, Satish" userId="af50c098-07d3-4545-ad93-15c24b849386" providerId="ADAL" clId="{B575728E-D61F-49E0-BC8E-8DC5242C7AE2}" dt="2026-03-09T05:15:06.911" v="982" actId="20577"/>
          <ac:spMkLst>
            <pc:docMk/>
            <pc:sldMk cId="3606108365" sldId="263"/>
            <ac:spMk id="4" creationId="{171F3812-E005-4ED4-44C4-E53D201CB775}"/>
          </ac:spMkLst>
        </pc:spChg>
        <pc:picChg chg="add mod">
          <ac:chgData name="Nair, Satish" userId="af50c098-07d3-4545-ad93-15c24b849386" providerId="ADAL" clId="{B575728E-D61F-49E0-BC8E-8DC5242C7AE2}" dt="2026-03-09T05:15:12.758" v="984" actId="1076"/>
          <ac:picMkLst>
            <pc:docMk/>
            <pc:sldMk cId="3606108365" sldId="263"/>
            <ac:picMk id="2" creationId="{F882F37D-CFBA-62CF-A775-5B889989361A}"/>
          </ac:picMkLst>
        </pc:picChg>
      </pc:sldChg>
      <pc:sldChg chg="modSp add mod ord">
        <pc:chgData name="Nair, Satish" userId="af50c098-07d3-4545-ad93-15c24b849386" providerId="ADAL" clId="{B575728E-D61F-49E0-BC8E-8DC5242C7AE2}" dt="2026-03-23T18:16:59.502" v="1242"/>
        <pc:sldMkLst>
          <pc:docMk/>
          <pc:sldMk cId="2936881161" sldId="264"/>
        </pc:sldMkLst>
        <pc:spChg chg="mod">
          <ac:chgData name="Nair, Satish" userId="af50c098-07d3-4545-ad93-15c24b849386" providerId="ADAL" clId="{B575728E-D61F-49E0-BC8E-8DC5242C7AE2}" dt="2026-03-23T18:16:59.502" v="1242"/>
          <ac:spMkLst>
            <pc:docMk/>
            <pc:sldMk cId="2936881161" sldId="264"/>
            <ac:spMk id="3" creationId="{6D650F9E-E20D-0E94-09E5-7C45C205E7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olab.research.google.com/github/cyneuro/Chapter_Colabs/blob/main/Colab_F.ipynb"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colab.research.google.com/github/cyneuro/Chapter_Colabs/blob/main/Colab_B.ipynb"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755257" y="473662"/>
            <a:ext cx="10552014" cy="46012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rPr>
              <a:t>F. SMALL NETWORKS: STM AND WTA</a:t>
            </a: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r>
              <a:rPr lang="en-US" sz="1700" i="1" dirty="0">
                <a:latin typeface="+mn-lt"/>
              </a:rPr>
              <a:t>Small networks for persistence (STM) and selection (WTA)</a:t>
            </a:r>
            <a:r>
              <a:rPr lang="en-US" sz="1700" dirty="0">
                <a:latin typeface="+mn-lt"/>
              </a:rPr>
              <a:t>. Having established how membrane and synaptic mechanisms shape single‑cell dynamics (Sets A–E), we now compose two compact network motifs that make explicit how weights, time constants, and inhibitory timing govern short‑term memory and categorical choice. The first motif short-term-memory (STM) demonstrates reverberation: brief drive to one element ignites a recurrent excitatory loop that outlives the stimulus when synaptic gain and decay lie in a permissive window; leak, adaptation, and well‑timed inhibition bound that window so the circuit avoids both failure to sustain and runaway spiking. The second motif implements winner‑take‑all (WTA): slightly unequal tonic inputs to principal cells engage a shared inhibitory pool; the earliest/strongest unit recruits inhibition that suppresses competitors, turning graded differences into categorical outcomes with a measurable decision time.</a:t>
            </a: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lang="en-US" altLang="en-US" sz="1700" dirty="0">
              <a:latin typeface="+mn-lt"/>
              <a:cs typeface="Times New Roman" panose="02020603050405020304" pitchFamily="18" charset="0"/>
            </a:endParaRP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u="sng">
                <a:hlinkClick r:id="rId2"/>
              </a:rPr>
              <a:t>Colab_F</a:t>
            </a:r>
            <a:r>
              <a:rPr lang="en-US" altLang="en-US" sz="1700">
                <a:latin typeface="+mn-lt"/>
                <a:ea typeface="Times New Roman" panose="02020603050405020304" pitchFamily="18" charset="0"/>
                <a:cs typeface="Times New Roman" panose="02020603050405020304" pitchFamily="18" charset="0"/>
              </a:rPr>
              <a:t> </a:t>
            </a:r>
            <a:r>
              <a:rPr lang="en-US" altLang="en-US" sz="1700" dirty="0">
                <a:latin typeface="+mn-lt"/>
                <a:ea typeface="Times New Roman" panose="02020603050405020304" pitchFamily="18" charset="0"/>
                <a:cs typeface="Times New Roman" panose="02020603050405020304" pitchFamily="18" charset="0"/>
              </a:rPr>
              <a:t>and complete the sequentially arranged hand-on learning - generating AI prompts for explanations and complete the exercises at the end.</a:t>
            </a:r>
          </a:p>
          <a:p>
            <a:endParaRPr lang="en-US" altLang="en-US" sz="1700" dirty="0">
              <a:latin typeface="Aptos" panose="020B0004020202020204" pitchFamily="34" charset="0"/>
              <a:cs typeface="Times New Roman" panose="02020603050405020304" pitchFamily="18" charset="0"/>
            </a:endParaRPr>
          </a:p>
          <a:p>
            <a:r>
              <a:rPr lang="en-US" altLang="en-US" sz="1700" u="sng" dirty="0">
                <a:latin typeface="Aptos" panose="020B0004020202020204" pitchFamily="34" charset="0"/>
                <a:cs typeface="Times New Roman" panose="02020603050405020304" pitchFamily="18" charset="0"/>
              </a:rPr>
              <a:t>A set of slides are provided to get started - the learner is encouraged to add more as appropriate.</a:t>
            </a:r>
            <a:endParaRPr lang="en-US" altLang="en-US" sz="1700" u="sng" dirty="0"/>
          </a:p>
        </p:txBody>
      </p:sp>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986254"/>
          </a:xfrm>
          <a:prstGeom prst="rect">
            <a:avLst/>
          </a:prstGeom>
          <a:noFill/>
        </p:spPr>
        <p:txBody>
          <a:bodyPr wrap="square" rtlCol="0">
            <a:spAutoFit/>
          </a:bodyPr>
          <a:lstStyle/>
          <a:p>
            <a:endParaRPr lang="en-US" sz="700" i="1" dirty="0"/>
          </a:p>
          <a:p>
            <a:r>
              <a:rPr lang="en-US" i="1" dirty="0"/>
              <a:t>Now we connect to systems concepts: RC membrane, conductances, Nernst/Goldman, pumps as rechargers, τ, λ, HH intuition.</a:t>
            </a:r>
          </a:p>
          <a:p>
            <a:r>
              <a:rPr lang="en-US" b="1" dirty="0"/>
              <a:t>Colab for part B - </a:t>
            </a:r>
            <a:r>
              <a:rPr lang="en-US" sz="1000" b="1" dirty="0">
                <a:hlinkClick r:id="rId2"/>
              </a:rPr>
              <a:t>https://colab.research.google.com/github/cyneuro/Chapter_Colabs/blob/main/Colab_B.ipynb</a:t>
            </a:r>
            <a:endParaRPr lang="en-US" sz="1000" b="1" dirty="0"/>
          </a:p>
          <a:p>
            <a:endParaRPr lang="en-US" dirty="0"/>
          </a:p>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700879" y="1056898"/>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243656" y="3595034"/>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5047536"/>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a:t>
                </a:r>
                <a:br>
                  <a:rPr lang="en-US" dirty="0"/>
                </a:b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br>
                  <a:rPr lang="en-US" dirty="0"/>
                </a:br>
                <a:r>
                  <a:rPr lang="en-US" dirty="0"/>
                  <a:t>“Predict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5047536"/>
              </a:xfrm>
              <a:prstGeom prst="rect">
                <a:avLst/>
              </a:prstGeom>
              <a:blipFill>
                <a:blip r:embed="rId2"/>
                <a:stretch>
                  <a:fillRect l="-508" t="-604" r="-50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623206"/>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a:t>
                </a:r>
                <a:br>
                  <a:rPr lang="en-US" dirty="0"/>
                </a:b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a:t>
                </a:r>
                <a:br>
                  <a:rPr lang="en-US" dirty="0"/>
                </a:b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623206"/>
              </a:xfrm>
              <a:prstGeom prst="rect">
                <a:avLst/>
              </a:prstGeom>
              <a:blipFill>
                <a:blip r:embed="rId2"/>
                <a:stretch>
                  <a:fillRect l="-508" t="-542"/>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a:t>
            </a:r>
            <a:r>
              <a:rPr lang="en-US" b="1" dirty="0"/>
              <a:t>reduces capacitance</a:t>
            </a:r>
            <a:r>
              <a:rPr lang="en-US" dirty="0"/>
              <a:t> and </a:t>
            </a:r>
            <a:r>
              <a:rPr lang="en-US" b="1" dirty="0"/>
              <a:t>increases resistance</a:t>
            </a:r>
            <a:r>
              <a:rPr lang="en-US" dirty="0"/>
              <a:t> in internodes, enabling </a:t>
            </a:r>
            <a:r>
              <a:rPr lang="en-US" b="1" dirty="0"/>
              <a:t>saltatory conduction</a:t>
            </a:r>
            <a:r>
              <a:rPr lang="en-US" dirty="0"/>
              <a:t> between nodes.</a:t>
            </a:r>
          </a:p>
          <a:p>
            <a:r>
              <a:rPr lang="en-US" b="1" dirty="0"/>
              <a:t>Self‑learning prompt</a:t>
            </a:r>
            <a:br>
              <a:rPr lang="en-US" dirty="0"/>
            </a:b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a:t>
            </a:r>
            <a:r>
              <a:rPr lang="en-US" b="1" dirty="0"/>
              <a:t>capacitance</a:t>
            </a:r>
            <a:r>
              <a:rPr lang="en-US" dirty="0"/>
              <a:t>, </a:t>
            </a:r>
            <a:r>
              <a:rPr lang="en-US" b="1" dirty="0"/>
              <a:t>conductances</a:t>
            </a:r>
            <a:r>
              <a:rPr lang="en-US" dirty="0"/>
              <a:t>, and </a:t>
            </a:r>
            <a:r>
              <a:rPr lang="en-US" b="1" dirty="0"/>
              <a:t>driving forces</a:t>
            </a:r>
            <a:r>
              <a:rPr lang="en-US" dirty="0"/>
              <a:t> into a time‑evolving voltage description used in simulators like NEURON.</a:t>
            </a:r>
          </a:p>
          <a:p>
            <a:r>
              <a:rPr lang="en-US" b="1" dirty="0"/>
              <a:t>Self‑learning prompt</a:t>
            </a:r>
            <a:br>
              <a:rPr lang="en-US" dirty="0"/>
            </a:br>
            <a:r>
              <a:rPr lang="en-US" dirty="0"/>
              <a:t>“In 4–6 sentences, map capacitor, conductances, and reversal potentials to biological elements 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157349" y="3544312"/>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994</Words>
  <Application>Microsoft Office PowerPoint</Application>
  <PresentationFormat>Widescreen</PresentationFormat>
  <Paragraphs>65</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2026-03-23T18:17:07Z</dcterms:modified>
</cp:coreProperties>
</file>